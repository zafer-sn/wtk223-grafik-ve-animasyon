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9"/>
  </p:notesMasterIdLst>
  <p:handoutMasterIdLst>
    <p:handoutMasterId r:id="rId30"/>
  </p:handout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27.10.2024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72470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06106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462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32845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54417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33220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61129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26147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6202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89690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8869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0926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436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70100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07584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0904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363496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823750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92927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146837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7609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25298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55044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29462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111430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9162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27.10.2024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Grafik ve Animasyon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BOOLEAN MODİFİER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</a:t>
            </a:r>
            <a:r>
              <a:rPr lang="tr-TR" dirty="0" err="1" smtClean="0"/>
              <a:t>Boolean</a:t>
            </a:r>
            <a:r>
              <a:rPr lang="tr-TR" dirty="0" smtClean="0"/>
              <a:t> </a:t>
            </a:r>
            <a:r>
              <a:rPr lang="tr-TR" dirty="0" err="1" smtClean="0"/>
              <a:t>Modifier</a:t>
            </a:r>
            <a:r>
              <a:rPr lang="tr-TR" dirty="0" smtClean="0"/>
              <a:t> kullanılarak 2 nesne arasındaki fark, birleşim ve ortak noktalar elde edilebilir. Bu sayede pek çok işlem yapılabili</a:t>
            </a:r>
            <a:r>
              <a:rPr lang="tr-TR" dirty="0" smtClean="0"/>
              <a:t>r. Örneğin bir küp içerisinde daire şeklinde bir boşluk açmak için 1 küp ve 1 silindir sahneye eklenerek küp nesnesine </a:t>
            </a:r>
            <a:r>
              <a:rPr lang="tr-TR" dirty="0" err="1" smtClean="0"/>
              <a:t>Boolean</a:t>
            </a:r>
            <a:r>
              <a:rPr lang="tr-TR" dirty="0" smtClean="0"/>
              <a:t> </a:t>
            </a:r>
            <a:r>
              <a:rPr lang="tr-TR" dirty="0" err="1" smtClean="0"/>
              <a:t>Modifier</a:t>
            </a:r>
            <a:r>
              <a:rPr lang="tr-TR" dirty="0" smtClean="0"/>
              <a:t> eklenebilir. </a:t>
            </a:r>
            <a:r>
              <a:rPr lang="tr-TR" dirty="0" err="1" smtClean="0"/>
              <a:t>Boolean</a:t>
            </a:r>
            <a:r>
              <a:rPr lang="tr-TR" dirty="0" smtClean="0"/>
              <a:t> </a:t>
            </a:r>
            <a:r>
              <a:rPr lang="tr-TR" dirty="0" err="1" smtClean="0"/>
              <a:t>modifier</a:t>
            </a:r>
            <a:r>
              <a:rPr lang="tr-TR" dirty="0" smtClean="0"/>
              <a:t> özelliklerinden </a:t>
            </a:r>
            <a:r>
              <a:rPr lang="tr-TR" dirty="0" err="1" smtClean="0"/>
              <a:t>Intersect</a:t>
            </a:r>
            <a:r>
              <a:rPr lang="tr-TR" dirty="0" smtClean="0"/>
              <a:t> seçilirse 2 nesnenin ortak noktası, </a:t>
            </a:r>
            <a:r>
              <a:rPr lang="tr-TR" dirty="0" err="1" smtClean="0"/>
              <a:t>Union</a:t>
            </a:r>
            <a:r>
              <a:rPr lang="tr-TR" dirty="0" smtClean="0"/>
              <a:t> seçilirse 2 nesnenin birleşimi ve </a:t>
            </a:r>
            <a:r>
              <a:rPr lang="tr-TR" dirty="0" err="1" smtClean="0"/>
              <a:t>Difference</a:t>
            </a:r>
            <a:r>
              <a:rPr lang="tr-TR" dirty="0" smtClean="0"/>
              <a:t> seçilirse iki nesnenin farkı alınabilir. </a:t>
            </a:r>
            <a:r>
              <a:rPr lang="tr-TR" dirty="0" err="1" smtClean="0"/>
              <a:t>Boolean</a:t>
            </a:r>
            <a:r>
              <a:rPr lang="tr-TR" dirty="0" smtClean="0"/>
              <a:t> </a:t>
            </a:r>
            <a:r>
              <a:rPr lang="tr-TR" dirty="0" err="1" smtClean="0"/>
              <a:t>Modifierde</a:t>
            </a:r>
            <a:r>
              <a:rPr lang="tr-TR" dirty="0" smtClean="0"/>
              <a:t> Object ile hangi nesne ile etkileşime girileceği seçilebilir. </a:t>
            </a:r>
            <a:r>
              <a:rPr lang="tr-TR" dirty="0" err="1" smtClean="0"/>
              <a:t>Modifier’lar</a:t>
            </a:r>
            <a:r>
              <a:rPr lang="tr-TR" dirty="0" smtClean="0"/>
              <a:t> yanındaki küçük ok tuşu tıklanıp ‘</a:t>
            </a:r>
            <a:r>
              <a:rPr lang="tr-TR" dirty="0" err="1" smtClean="0"/>
              <a:t>Apply</a:t>
            </a:r>
            <a:r>
              <a:rPr lang="tr-TR" dirty="0" smtClean="0"/>
              <a:t>’ seçilerek </a:t>
            </a:r>
            <a:r>
              <a:rPr lang="tr-TR" dirty="0" err="1" smtClean="0"/>
              <a:t>Modifier’ın</a:t>
            </a:r>
            <a:r>
              <a:rPr lang="tr-TR" dirty="0" smtClean="0"/>
              <a:t> etkisi kaydedilebilir.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9495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BOOLEAN MODİFİER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209800"/>
            <a:ext cx="8216264" cy="43243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943" y="4527308"/>
            <a:ext cx="2228457" cy="200684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058" y="2209800"/>
            <a:ext cx="2228342" cy="204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0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BOOLEAN MODİFİER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İşlem tamamlandığında 2 nesne farkı alınmış olur.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01" y="2901378"/>
            <a:ext cx="4130398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2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animasyon yapılabilir. Bunun için öncelikle ‘</a:t>
            </a:r>
            <a:r>
              <a:rPr lang="tr-TR" dirty="0" err="1" smtClean="0"/>
              <a:t>Output</a:t>
            </a:r>
            <a:r>
              <a:rPr lang="tr-TR" dirty="0" smtClean="0"/>
              <a:t>’ kısmına gidilerek ‘</a:t>
            </a:r>
            <a:r>
              <a:rPr lang="tr-TR" dirty="0" err="1" smtClean="0"/>
              <a:t>Frame</a:t>
            </a:r>
            <a:r>
              <a:rPr lang="tr-TR" dirty="0" smtClean="0"/>
              <a:t> Rate’ değerinin kontrol edilmesi önerilir. Varsayılan olarak Blender 24 FPS ile animasyon oluşturur. Bu değer 1 saniye de ekrana 24 </a:t>
            </a:r>
            <a:r>
              <a:rPr lang="tr-TR" dirty="0" err="1" smtClean="0"/>
              <a:t>frame</a:t>
            </a:r>
            <a:r>
              <a:rPr lang="tr-TR" dirty="0" smtClean="0"/>
              <a:t>(kare) getirileceği anlamına gelir. </a:t>
            </a:r>
            <a:r>
              <a:rPr lang="tr-TR" dirty="0" err="1" smtClean="0"/>
              <a:t>Blender’da</a:t>
            </a:r>
            <a:r>
              <a:rPr lang="tr-TR" dirty="0" smtClean="0"/>
              <a:t> alt kısımda animasyon için kullanılacak ‘</a:t>
            </a:r>
            <a:r>
              <a:rPr lang="tr-TR" dirty="0" err="1" smtClean="0"/>
              <a:t>Timeline</a:t>
            </a:r>
            <a:r>
              <a:rPr lang="tr-TR" dirty="0" smtClean="0"/>
              <a:t>’ bulunmaktadır. Burada ise varsayılan olarak 250 karelik bir animasyon oluşturulacağı belirtilir. Bu durumda </a:t>
            </a:r>
            <a:r>
              <a:rPr lang="tr-TR" dirty="0" err="1" smtClean="0"/>
              <a:t>Timeline</a:t>
            </a:r>
            <a:r>
              <a:rPr lang="tr-TR" dirty="0" err="1" smtClean="0"/>
              <a:t>’ın</a:t>
            </a:r>
            <a:r>
              <a:rPr lang="tr-TR" dirty="0" smtClean="0"/>
              <a:t> tamamı kullanılırsa ve </a:t>
            </a:r>
            <a:r>
              <a:rPr lang="tr-TR" dirty="0" err="1" smtClean="0"/>
              <a:t>Frame</a:t>
            </a:r>
            <a:r>
              <a:rPr lang="tr-TR" dirty="0" smtClean="0"/>
              <a:t> Rate değeri varsayılan olarak(24) bırakılırsa </a:t>
            </a:r>
            <a:r>
              <a:rPr lang="tr-TR" dirty="0" err="1" smtClean="0"/>
              <a:t>Blenderda</a:t>
            </a:r>
            <a:r>
              <a:rPr lang="tr-TR" dirty="0" smtClean="0"/>
              <a:t> 250/24 hesabı ile yaklaşık olarak 10.41 saniyelik bir animasyon oluşturulabilir.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0519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Hesaplamanın kolay olması açısında </a:t>
            </a:r>
            <a:r>
              <a:rPr lang="tr-TR" dirty="0" err="1" smtClean="0"/>
              <a:t>Frame</a:t>
            </a:r>
            <a:r>
              <a:rPr lang="tr-TR" dirty="0" smtClean="0"/>
              <a:t> Rate değeri 25 yapılırsa 250/25’ten 10 saniyelik bir animasyon oluşturulabilir. Ya da tam tersi olarak </a:t>
            </a:r>
            <a:r>
              <a:rPr lang="tr-TR" dirty="0" err="1" smtClean="0"/>
              <a:t>Frame</a:t>
            </a:r>
            <a:r>
              <a:rPr lang="tr-TR" dirty="0" smtClean="0"/>
              <a:t> Rate 24’te bırakılıp </a:t>
            </a:r>
            <a:r>
              <a:rPr lang="tr-TR" dirty="0" err="1" smtClean="0"/>
              <a:t>Timeline</a:t>
            </a:r>
            <a:r>
              <a:rPr lang="tr-TR" dirty="0" smtClean="0"/>
              <a:t> 240’a çekilerek yine 240/24’ten tam 10 saniyelik bir animasyon oluşturulabilir. Buradaki değerler tamamen tasarımcıya kalmıştır. </a:t>
            </a:r>
            <a:r>
              <a:rPr lang="tr-TR" dirty="0" err="1" smtClean="0"/>
              <a:t>Timeline’da</a:t>
            </a:r>
            <a:r>
              <a:rPr lang="tr-TR" dirty="0" smtClean="0"/>
              <a:t> Start başlangıç </a:t>
            </a:r>
            <a:r>
              <a:rPr lang="tr-TR" dirty="0" err="1" smtClean="0"/>
              <a:t>Frameini</a:t>
            </a:r>
            <a:r>
              <a:rPr lang="tr-TR" dirty="0" smtClean="0"/>
              <a:t>, </a:t>
            </a:r>
            <a:r>
              <a:rPr lang="tr-TR" dirty="0" err="1" smtClean="0"/>
              <a:t>End</a:t>
            </a:r>
            <a:r>
              <a:rPr lang="tr-TR" dirty="0" smtClean="0"/>
              <a:t> bitiş </a:t>
            </a:r>
            <a:r>
              <a:rPr lang="tr-TR" dirty="0" err="1" smtClean="0"/>
              <a:t>frameini</a:t>
            </a:r>
            <a:r>
              <a:rPr lang="tr-TR" dirty="0" smtClean="0"/>
              <a:t> belirtir. En soldaki ‘1’ değeri ise hangi </a:t>
            </a:r>
            <a:r>
              <a:rPr lang="tr-TR" dirty="0" err="1" smtClean="0"/>
              <a:t>framede</a:t>
            </a:r>
            <a:r>
              <a:rPr lang="tr-TR" dirty="0" smtClean="0"/>
              <a:t> olduğumuzu gösterir.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75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8105" y="2249488"/>
            <a:ext cx="817579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8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endParaRPr lang="tr-TR" dirty="0" smtClean="0"/>
          </a:p>
          <a:p>
            <a:pPr algn="just"/>
            <a:endParaRPr lang="tr-TR" dirty="0"/>
          </a:p>
          <a:p>
            <a:pPr algn="just"/>
            <a:r>
              <a:rPr lang="tr-TR" dirty="0" err="1" smtClean="0"/>
              <a:t>Timeline’ın</a:t>
            </a:r>
            <a:r>
              <a:rPr lang="tr-TR" dirty="0" smtClean="0"/>
              <a:t> ortasındaki bu kısım oldukça önemlidir. </a:t>
            </a:r>
            <a:r>
              <a:rPr lang="tr-TR" dirty="0" smtClean="0"/>
              <a:t>Soldan sağa sırayla 1. buton: Otomatik </a:t>
            </a:r>
            <a:r>
              <a:rPr lang="tr-TR" dirty="0" err="1" smtClean="0"/>
              <a:t>key</a:t>
            </a:r>
            <a:r>
              <a:rPr lang="tr-TR" dirty="0" smtClean="0"/>
              <a:t> </a:t>
            </a:r>
            <a:r>
              <a:rPr lang="tr-TR" dirty="0" err="1" smtClean="0"/>
              <a:t>frame</a:t>
            </a:r>
            <a:r>
              <a:rPr lang="tr-TR" dirty="0" smtClean="0"/>
              <a:t> kaydetmeyi sağlar, 2. Buton en baştaki </a:t>
            </a:r>
            <a:r>
              <a:rPr lang="tr-TR" dirty="0" err="1" smtClean="0"/>
              <a:t>keyframe’e</a:t>
            </a:r>
            <a:r>
              <a:rPr lang="tr-TR" dirty="0" smtClean="0"/>
              <a:t> dönüş sağlar, 3. Buton bir önceki </a:t>
            </a:r>
            <a:r>
              <a:rPr lang="tr-TR" dirty="0" err="1" smtClean="0"/>
              <a:t>keyframe’e</a:t>
            </a:r>
            <a:r>
              <a:rPr lang="tr-TR" dirty="0" smtClean="0"/>
              <a:t> dönüş sağlar, 4. Buton animasyon sağdan sola(ters) bir şekilde oynatır, 5. Buton animasyonu normal bir şekilde oynatır, 6. Buton bir sonraki </a:t>
            </a:r>
            <a:r>
              <a:rPr lang="tr-TR" dirty="0" err="1" smtClean="0"/>
              <a:t>keyframe’e</a:t>
            </a:r>
            <a:r>
              <a:rPr lang="tr-TR" dirty="0" smtClean="0"/>
              <a:t> dönüş sağlar ve 7. Buton en sondaki </a:t>
            </a:r>
            <a:r>
              <a:rPr lang="tr-TR" dirty="0" err="1" smtClean="0"/>
              <a:t>keyframe’e</a:t>
            </a:r>
            <a:r>
              <a:rPr lang="tr-TR" dirty="0" smtClean="0"/>
              <a:t> dönüş sağlar.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56" y="2249424"/>
            <a:ext cx="9888687" cy="75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1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endParaRPr lang="tr-TR" dirty="0" smtClean="0"/>
          </a:p>
          <a:p>
            <a:pPr algn="just"/>
            <a:endParaRPr lang="tr-TR" dirty="0"/>
          </a:p>
          <a:p>
            <a:pPr algn="just"/>
            <a:r>
              <a:rPr lang="tr-TR" dirty="0" err="1" smtClean="0"/>
              <a:t>Timeline’ın</a:t>
            </a:r>
            <a:r>
              <a:rPr lang="tr-TR" dirty="0" smtClean="0"/>
              <a:t> ortasındaki bu kısım oldukça önemlidir. </a:t>
            </a:r>
            <a:r>
              <a:rPr lang="tr-TR" dirty="0" smtClean="0"/>
              <a:t>Soldan sağa sırayla 1. buton: Otomatik </a:t>
            </a:r>
            <a:r>
              <a:rPr lang="tr-TR" dirty="0" err="1" smtClean="0"/>
              <a:t>key</a:t>
            </a:r>
            <a:r>
              <a:rPr lang="tr-TR" dirty="0" smtClean="0"/>
              <a:t> </a:t>
            </a:r>
            <a:r>
              <a:rPr lang="tr-TR" dirty="0" err="1" smtClean="0"/>
              <a:t>frame</a:t>
            </a:r>
            <a:r>
              <a:rPr lang="tr-TR" dirty="0" smtClean="0"/>
              <a:t> kaydetmeyi sağlar, 2. Buton en baştaki </a:t>
            </a:r>
            <a:r>
              <a:rPr lang="tr-TR" dirty="0" err="1" smtClean="0"/>
              <a:t>keyframe’e</a:t>
            </a:r>
            <a:r>
              <a:rPr lang="tr-TR" dirty="0" smtClean="0"/>
              <a:t> dönüş sağlar, 3. Buton bir önceki </a:t>
            </a:r>
            <a:r>
              <a:rPr lang="tr-TR" dirty="0" err="1" smtClean="0"/>
              <a:t>keyframe’e</a:t>
            </a:r>
            <a:r>
              <a:rPr lang="tr-TR" dirty="0" smtClean="0"/>
              <a:t> dönüş sağlar, 4. Buton animasyon sağdan sola(ters) bir şekilde oynatır, 5. Buton animasyonu normal bir şekilde oynatır, 6. Buton bir sonraki </a:t>
            </a:r>
            <a:r>
              <a:rPr lang="tr-TR" dirty="0" err="1" smtClean="0"/>
              <a:t>keyframe’e</a:t>
            </a:r>
            <a:r>
              <a:rPr lang="tr-TR" dirty="0" smtClean="0"/>
              <a:t> dönüş sağlar ve 7. Buton en sondaki </a:t>
            </a:r>
            <a:r>
              <a:rPr lang="tr-TR" dirty="0" err="1" smtClean="0"/>
              <a:t>keyframe’e</a:t>
            </a:r>
            <a:r>
              <a:rPr lang="tr-TR" dirty="0" smtClean="0"/>
              <a:t> dönüş sağlar.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656" y="2249424"/>
            <a:ext cx="9888687" cy="75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2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Basit bi</a:t>
            </a:r>
            <a:r>
              <a:rPr lang="tr-TR" dirty="0" smtClean="0"/>
              <a:t>r animasyon oluşturmak için bir küp oluşturalım(</a:t>
            </a:r>
            <a:r>
              <a:rPr lang="tr-TR" dirty="0" err="1" smtClean="0"/>
              <a:t>Shift</a:t>
            </a:r>
            <a:r>
              <a:rPr lang="tr-TR" dirty="0" smtClean="0"/>
              <a:t> + a tuşu ile Mesh menüsünden oluşturulabilir) ve klavyeden ‘N’ tuşuna basarak küpün konum, rotasyon ve büyüklük özelliklerini içeren pencereyi açalım.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729945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98123" y="2249488"/>
            <a:ext cx="8195754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6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Burada hangi değer kaydedilmek isteniyorsa Mouse </a:t>
            </a:r>
            <a:r>
              <a:rPr lang="tr-TR" dirty="0" err="1" smtClean="0"/>
              <a:t>cursor’ı</a:t>
            </a:r>
            <a:r>
              <a:rPr lang="tr-TR" dirty="0" smtClean="0"/>
              <a:t>(işaretçisi) o değerin üstüne getirilerek klavyeden ‘I’ tuşuna basılması gereklidir. Burada animasyon </a:t>
            </a:r>
            <a:r>
              <a:rPr lang="tr-TR" dirty="0" err="1" smtClean="0"/>
              <a:t>Timeline’ında</a:t>
            </a:r>
            <a:r>
              <a:rPr lang="tr-TR" dirty="0" smtClean="0"/>
              <a:t> hangi </a:t>
            </a:r>
            <a:r>
              <a:rPr lang="tr-TR" dirty="0" err="1" smtClean="0"/>
              <a:t>framede</a:t>
            </a:r>
            <a:r>
              <a:rPr lang="tr-TR" dirty="0" smtClean="0"/>
              <a:t> olduğumuzda önemlidir. Örneğimizde şu anda </a:t>
            </a:r>
            <a:r>
              <a:rPr lang="tr-TR" dirty="0" err="1" smtClean="0"/>
              <a:t>Timeline’da</a:t>
            </a:r>
            <a:r>
              <a:rPr lang="tr-TR" dirty="0" smtClean="0"/>
              <a:t> 1. </a:t>
            </a:r>
            <a:r>
              <a:rPr lang="tr-TR" dirty="0" err="1" smtClean="0"/>
              <a:t>Framedeyiz</a:t>
            </a:r>
            <a:r>
              <a:rPr lang="tr-TR" dirty="0" smtClean="0"/>
              <a:t> ve küpün </a:t>
            </a:r>
            <a:r>
              <a:rPr lang="tr-TR" dirty="0" err="1" smtClean="0"/>
              <a:t>Transform’u</a:t>
            </a:r>
            <a:r>
              <a:rPr lang="tr-TR" dirty="0" smtClean="0"/>
              <a:t> üstüne gelerek ‘I’ tuşuna basıyoruz. Böylece küpün 1. </a:t>
            </a:r>
            <a:r>
              <a:rPr lang="tr-TR" dirty="0" err="1" smtClean="0"/>
              <a:t>framedeki</a:t>
            </a:r>
            <a:r>
              <a:rPr lang="tr-TR" dirty="0" smtClean="0"/>
              <a:t> konumunu kaydetmiş oluyoruz. Bu durumda </a:t>
            </a:r>
            <a:r>
              <a:rPr lang="tr-TR" dirty="0" err="1" smtClean="0"/>
              <a:t>Transformun</a:t>
            </a:r>
            <a:r>
              <a:rPr lang="tr-TR" dirty="0" smtClean="0"/>
              <a:t> Sarı renge dönüştüğüne dikkat ediniz. Bu işlemi yaptığımızda </a:t>
            </a:r>
            <a:r>
              <a:rPr lang="tr-TR" dirty="0" err="1" smtClean="0"/>
              <a:t>Timeline’da</a:t>
            </a:r>
            <a:r>
              <a:rPr lang="tr-TR" dirty="0" smtClean="0"/>
              <a:t> sarı küçük bir </a:t>
            </a:r>
            <a:r>
              <a:rPr lang="tr-TR" dirty="0" err="1" smtClean="0"/>
              <a:t>keyframe</a:t>
            </a:r>
            <a:r>
              <a:rPr lang="tr-TR" dirty="0" smtClean="0"/>
              <a:t> çıktığına dikkat ediniz.</a:t>
            </a:r>
          </a:p>
        </p:txBody>
      </p:sp>
    </p:spTree>
    <p:extLst>
      <p:ext uri="{BB962C8B-B14F-4D97-AF65-F5344CB8AC3E}">
        <p14:creationId xmlns:p14="http://schemas.microsoft.com/office/powerpoint/2010/main" val="1283063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4256" y="2249488"/>
            <a:ext cx="8163487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2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Daha sonra 24. </a:t>
            </a:r>
            <a:r>
              <a:rPr lang="tr-TR" dirty="0" err="1" smtClean="0"/>
              <a:t>frame’e</a:t>
            </a:r>
            <a:r>
              <a:rPr lang="tr-TR" dirty="0" smtClean="0"/>
              <a:t> geliyoruz bunu isterseniz </a:t>
            </a:r>
            <a:r>
              <a:rPr lang="tr-TR" dirty="0" err="1" smtClean="0"/>
              <a:t>Timeline’ı</a:t>
            </a:r>
            <a:r>
              <a:rPr lang="tr-TR" dirty="0" smtClean="0"/>
              <a:t> sürükleyerek </a:t>
            </a:r>
            <a:r>
              <a:rPr lang="tr-TR" dirty="0" err="1" smtClean="0"/>
              <a:t>istersenizde</a:t>
            </a:r>
            <a:r>
              <a:rPr lang="tr-TR" dirty="0" smtClean="0"/>
              <a:t> direk değeri yazarak yapabilirsiniz. Özellikle 24’e gelmemizin sebebi </a:t>
            </a:r>
            <a:r>
              <a:rPr lang="tr-TR" dirty="0" err="1" smtClean="0"/>
              <a:t>Frame</a:t>
            </a:r>
            <a:r>
              <a:rPr lang="tr-TR" dirty="0" smtClean="0"/>
              <a:t> Rate </a:t>
            </a:r>
            <a:r>
              <a:rPr lang="tr-TR" dirty="0" err="1" smtClean="0"/>
              <a:t>değerimizinde</a:t>
            </a:r>
            <a:r>
              <a:rPr lang="tr-TR" dirty="0" smtClean="0"/>
              <a:t> 24 olması bu sayede tam 1 saniyelik bir animasyon oluşturacağız. 24. </a:t>
            </a:r>
            <a:r>
              <a:rPr lang="tr-TR" dirty="0" err="1" smtClean="0"/>
              <a:t>frame’e</a:t>
            </a:r>
            <a:r>
              <a:rPr lang="tr-TR" dirty="0" smtClean="0"/>
              <a:t> geldikten sonra küpün </a:t>
            </a:r>
            <a:r>
              <a:rPr lang="tr-TR" dirty="0" err="1" smtClean="0"/>
              <a:t>Transform</a:t>
            </a:r>
            <a:r>
              <a:rPr lang="tr-TR" dirty="0" smtClean="0"/>
              <a:t> kısmından x değerini 5 yapıyoruz ve son durumu kaydetmek için tekrar klavyeden I tuşuna basıyoruz. Böylece basit bir animasyon oluşturmuş oluyoruz.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99068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7040" y="2249488"/>
            <a:ext cx="8257919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Timeline</a:t>
            </a:r>
            <a:r>
              <a:rPr lang="tr-TR" dirty="0" smtClean="0"/>
              <a:t> kısmına sağ tıklanıp </a:t>
            </a:r>
            <a:r>
              <a:rPr lang="tr-TR" dirty="0" err="1" smtClean="0"/>
              <a:t>Interpolation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 kısmından </a:t>
            </a:r>
            <a:r>
              <a:rPr lang="tr-TR" dirty="0" err="1" smtClean="0"/>
              <a:t>Linear</a:t>
            </a:r>
            <a:r>
              <a:rPr lang="tr-TR" dirty="0" smtClean="0"/>
              <a:t>(Doğrusal) seçilirse animasyon belirttiğimiz noktalara tam uyum sağlayarak(kuş bakışı) giderken, </a:t>
            </a:r>
            <a:r>
              <a:rPr lang="tr-TR" dirty="0" err="1" smtClean="0"/>
              <a:t>Bezier</a:t>
            </a:r>
            <a:r>
              <a:rPr lang="tr-TR" dirty="0" smtClean="0"/>
              <a:t> seçersek biraz daha yumuşatarak(yay şeklinde) belirttiğimiz noktalara gider. Sadece </a:t>
            </a:r>
            <a:r>
              <a:rPr lang="tr-TR" dirty="0" err="1" smtClean="0"/>
              <a:t>transform</a:t>
            </a:r>
            <a:r>
              <a:rPr lang="tr-TR" dirty="0" smtClean="0"/>
              <a:t> değil </a:t>
            </a:r>
            <a:r>
              <a:rPr lang="tr-TR" dirty="0" err="1" smtClean="0"/>
              <a:t>Blender’da</a:t>
            </a:r>
            <a:r>
              <a:rPr lang="tr-TR" dirty="0" smtClean="0"/>
              <a:t> neredeyse her değer ‘I’ tuşu ile kaydedilip animasyona dahil edilebilir.</a:t>
            </a:r>
          </a:p>
        </p:txBody>
      </p:sp>
    </p:spTree>
    <p:extLst>
      <p:ext uri="{BB962C8B-B14F-4D97-AF65-F5344CB8AC3E}">
        <p14:creationId xmlns:p14="http://schemas.microsoft.com/office/powerpoint/2010/main" val="313921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Blender’da</a:t>
            </a:r>
            <a:r>
              <a:rPr lang="tr-TR" dirty="0" smtClean="0"/>
              <a:t> </a:t>
            </a:r>
            <a:r>
              <a:rPr lang="tr-TR" dirty="0" err="1" smtClean="0"/>
              <a:t>Armature</a:t>
            </a:r>
            <a:r>
              <a:rPr lang="tr-TR" dirty="0" smtClean="0"/>
              <a:t> sistemi ile kemik yapısı oluşturulabilir. Bu yapı canlıların bedenindeki kemik sistemine benzer şekilde çalışır. Örneğin bir insanın elinde, kolunda bulunan kemikler gibi düşünülebilir. </a:t>
            </a:r>
            <a:r>
              <a:rPr lang="tr-TR" dirty="0" smtClean="0"/>
              <a:t>Sadece bu tarz değil da değil bir kedinin kuyruk hareketi içinde bu sistem kullanılabilir. Örneğin bir silindir içine kemik sistemi yerleştirilip hareket ve animasyon sağlanabilir. Bunun için silindir oluşturulduktan sonra </a:t>
            </a:r>
            <a:r>
              <a:rPr lang="tr-TR" dirty="0" err="1" smtClean="0"/>
              <a:t>Shift</a:t>
            </a:r>
            <a:r>
              <a:rPr lang="tr-TR" dirty="0" smtClean="0"/>
              <a:t> + a ile </a:t>
            </a:r>
            <a:r>
              <a:rPr lang="tr-TR" dirty="0" err="1" smtClean="0"/>
              <a:t>Armature</a:t>
            </a:r>
            <a:r>
              <a:rPr lang="tr-TR" dirty="0" smtClean="0"/>
              <a:t> oluşturulmalıdır. Bu işlemin ‘Object </a:t>
            </a:r>
            <a:r>
              <a:rPr lang="tr-TR" dirty="0" err="1" smtClean="0"/>
              <a:t>Mode</a:t>
            </a:r>
            <a:r>
              <a:rPr lang="tr-TR" dirty="0" smtClean="0"/>
              <a:t>’ da yapılması gerekir!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054433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2168" y="2249488"/>
            <a:ext cx="8187663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7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Bu işlem sonrası bir kemik oluşmakla birlikte şu anda Silindir içerisinde gömülü olarak görünmektedir ve kemiği görememekteyiz. Bunun için </a:t>
            </a:r>
            <a:r>
              <a:rPr lang="tr-TR" dirty="0" err="1" smtClean="0"/>
              <a:t>Armature</a:t>
            </a:r>
            <a:r>
              <a:rPr lang="tr-TR" dirty="0" smtClean="0"/>
              <a:t> seçili iken ‘Data’ menüsünden </a:t>
            </a:r>
            <a:r>
              <a:rPr lang="tr-TR" dirty="0" err="1" smtClean="0"/>
              <a:t>Viewport</a:t>
            </a:r>
            <a:r>
              <a:rPr lang="tr-TR" dirty="0" smtClean="0"/>
              <a:t> </a:t>
            </a:r>
            <a:r>
              <a:rPr lang="tr-TR" dirty="0" err="1" smtClean="0"/>
              <a:t>Display</a:t>
            </a:r>
            <a:r>
              <a:rPr lang="tr-TR" dirty="0" smtClean="0"/>
              <a:t> -&gt; </a:t>
            </a:r>
            <a:r>
              <a:rPr lang="tr-TR" dirty="0" err="1" smtClean="0"/>
              <a:t>In</a:t>
            </a:r>
            <a:r>
              <a:rPr lang="tr-TR" dirty="0" smtClean="0"/>
              <a:t> Front yolu izlenerek kemiklerin her şartta görünmesi sağlanabilir.</a:t>
            </a:r>
          </a:p>
        </p:txBody>
      </p:sp>
    </p:spTree>
    <p:extLst>
      <p:ext uri="{BB962C8B-B14F-4D97-AF65-F5344CB8AC3E}">
        <p14:creationId xmlns:p14="http://schemas.microsoft.com/office/powerpoint/2010/main" val="258347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2168" y="2249488"/>
            <a:ext cx="8187663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6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Şu anda kemik oldukça küçük bu nedenle bunu kendi isteğimize göre büyültüp(S tuşu ile) ‘</a:t>
            </a:r>
            <a:r>
              <a:rPr lang="tr-TR" dirty="0" err="1" smtClean="0"/>
              <a:t>Edit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’ kullanarak kemiğin bitiş noktasını ‘E’ tuşu ile </a:t>
            </a:r>
            <a:r>
              <a:rPr lang="tr-TR" dirty="0" err="1" smtClean="0"/>
              <a:t>Extrude</a:t>
            </a:r>
            <a:r>
              <a:rPr lang="tr-TR" dirty="0" smtClean="0"/>
              <a:t> yaparak çoğaltıyoruz. Çoğaltılan </a:t>
            </a:r>
            <a:r>
              <a:rPr lang="tr-TR" dirty="0" err="1" smtClean="0"/>
              <a:t>herbir</a:t>
            </a:r>
            <a:r>
              <a:rPr lang="tr-TR" dirty="0" smtClean="0"/>
              <a:t> kemiğin öncekine bağlı olduğu unutulmamalıdır. Hareket buna göre </a:t>
            </a:r>
            <a:r>
              <a:rPr lang="tr-TR" dirty="0" err="1" smtClean="0"/>
              <a:t>parent-child</a:t>
            </a:r>
            <a:r>
              <a:rPr lang="tr-TR" dirty="0" smtClean="0"/>
              <a:t> ilişkisi ile gerçekleşecektir.</a:t>
            </a:r>
          </a:p>
        </p:txBody>
      </p:sp>
    </p:spTree>
    <p:extLst>
      <p:ext uri="{BB962C8B-B14F-4D97-AF65-F5344CB8AC3E}">
        <p14:creationId xmlns:p14="http://schemas.microsoft.com/office/powerpoint/2010/main" val="274786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14256" y="2249488"/>
            <a:ext cx="8163487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1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Daha sonra ‘Object </a:t>
            </a:r>
            <a:r>
              <a:rPr lang="tr-TR" dirty="0" err="1" smtClean="0"/>
              <a:t>Mode</a:t>
            </a:r>
            <a:r>
              <a:rPr lang="tr-TR" dirty="0" smtClean="0"/>
              <a:t>’ a geçilerek önce kemik sistemini eklemek istediğimiz nesne(silindir) seçilip daha sonra </a:t>
            </a:r>
            <a:r>
              <a:rPr lang="tr-TR" dirty="0" err="1" smtClean="0"/>
              <a:t>Shift</a:t>
            </a:r>
            <a:r>
              <a:rPr lang="tr-TR" dirty="0" smtClean="0"/>
              <a:t> tuşu ile kemik sisteminin kendisi seçilerek CTRL + p tuş kombinasyonu ile </a:t>
            </a:r>
            <a:r>
              <a:rPr lang="tr-TR" dirty="0" err="1" smtClean="0"/>
              <a:t>Parent</a:t>
            </a:r>
            <a:r>
              <a:rPr lang="tr-TR" dirty="0" smtClean="0"/>
              <a:t> menüsü açılır ve ‘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Automatic</a:t>
            </a:r>
            <a:r>
              <a:rPr lang="tr-TR" dirty="0" smtClean="0"/>
              <a:t> </a:t>
            </a:r>
            <a:r>
              <a:rPr lang="tr-TR" dirty="0" err="1" smtClean="0"/>
              <a:t>Weights</a:t>
            </a:r>
            <a:r>
              <a:rPr lang="tr-TR" dirty="0" smtClean="0"/>
              <a:t>’ seçeneği seçilir. </a:t>
            </a:r>
            <a:r>
              <a:rPr lang="tr-TR" dirty="0" smtClean="0"/>
              <a:t>Böylece silindir kemik sistemi ile hareket ettirilirken köşelerde(eklemlerde) meydana gelecek deformeler otomatik olarak ayarlanmış olur.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85403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291466"/>
            <a:ext cx="10972800" cy="424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8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Şu anda hareket sağlanabilir ancak </a:t>
            </a:r>
            <a:r>
              <a:rPr lang="tr-TR" dirty="0" err="1" smtClean="0"/>
              <a:t>Silindir’de</a:t>
            </a:r>
            <a:r>
              <a:rPr lang="tr-TR" dirty="0" smtClean="0"/>
              <a:t> herhangi bir bölme işlemi yapılmadığından hareket tek bir parça olarak görünecektir. Bunun için silindir seçilip ‘</a:t>
            </a:r>
            <a:r>
              <a:rPr lang="tr-TR" dirty="0" err="1" smtClean="0"/>
              <a:t>Edit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’ a geçilerek silindir CTRL + r ile istenildiği kadar parçaya bölünebilir. Ben şu anda 20 parçaya bölüyorum.</a:t>
            </a:r>
          </a:p>
        </p:txBody>
      </p:sp>
    </p:spTree>
    <p:extLst>
      <p:ext uri="{BB962C8B-B14F-4D97-AF65-F5344CB8AC3E}">
        <p14:creationId xmlns:p14="http://schemas.microsoft.com/office/powerpoint/2010/main" val="129859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357839"/>
            <a:ext cx="10972800" cy="410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9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ANİMASYON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En son </a:t>
            </a:r>
            <a:r>
              <a:rPr lang="tr-TR" dirty="0" err="1" smtClean="0"/>
              <a:t>Armature</a:t>
            </a:r>
            <a:r>
              <a:rPr lang="tr-TR" dirty="0" smtClean="0"/>
              <a:t> seçilip Sol üstten ‘</a:t>
            </a:r>
            <a:r>
              <a:rPr lang="tr-TR" dirty="0" err="1" smtClean="0"/>
              <a:t>Pose</a:t>
            </a:r>
            <a:r>
              <a:rPr lang="tr-TR" dirty="0" smtClean="0"/>
              <a:t> </a:t>
            </a:r>
            <a:r>
              <a:rPr lang="tr-TR" dirty="0" err="1" smtClean="0"/>
              <a:t>Mode</a:t>
            </a:r>
            <a:r>
              <a:rPr lang="tr-TR" dirty="0" smtClean="0"/>
              <a:t>’ seçilerek hareket gerçekleştirilebilir.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935" y="3694536"/>
            <a:ext cx="759813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9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1628</TotalTime>
  <Words>2047</Words>
  <Application>Microsoft Office PowerPoint</Application>
  <PresentationFormat>Geniş ekran</PresentationFormat>
  <Paragraphs>127</Paragraphs>
  <Slides>27</Slides>
  <Notes>27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2" baseType="lpstr">
      <vt:lpstr>Arial</vt:lpstr>
      <vt:lpstr>Calibri</vt:lpstr>
      <vt:lpstr>Georgia</vt:lpstr>
      <vt:lpstr>Wingdings 2</vt:lpstr>
      <vt:lpstr>Eğitim sunusu</vt:lpstr>
      <vt:lpstr>Grafik ve Animasyon</vt:lpstr>
      <vt:lpstr>BOOLEAN MODİFİER</vt:lpstr>
      <vt:lpstr>BOOLEAN MODİFİER</vt:lpstr>
      <vt:lpstr>BOOLEAN MODİFİER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  <vt:lpstr>ANİMASYON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336</cp:revision>
  <dcterms:created xsi:type="dcterms:W3CDTF">2023-12-09T09:03:26Z</dcterms:created>
  <dcterms:modified xsi:type="dcterms:W3CDTF">2024-10-27T11:11:05Z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