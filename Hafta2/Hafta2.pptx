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1"/>
  </p:notesMasterIdLst>
  <p:handoutMasterIdLst>
    <p:handoutMasterId r:id="rId22"/>
  </p:handoutMasterIdLst>
  <p:sldIdLst>
    <p:sldId id="257" r:id="rId2"/>
    <p:sldId id="267" r:id="rId3"/>
    <p:sldId id="268" r:id="rId4"/>
    <p:sldId id="26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3" r:id="rId19"/>
    <p:sldId id="284" r:id="rId20"/>
  </p:sldIdLst>
  <p:sldSz cx="12192000" cy="6858000"/>
  <p:notesSz cx="6858000" cy="9144000"/>
  <p:defaultTextStyle>
    <a:defPPr rtl="0"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7296" userDrawn="1">
          <p15:clr>
            <a:srgbClr val="A4A3A4"/>
          </p15:clr>
        </p15:guide>
        <p15:guide id="4" orient="horz" pos="41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89911" autoAdjust="0"/>
  </p:normalViewPr>
  <p:slideViewPr>
    <p:cSldViewPr snapToGrid="0">
      <p:cViewPr varScale="1">
        <p:scale>
          <a:sx n="87" d="100"/>
          <a:sy n="87" d="100"/>
        </p:scale>
        <p:origin x="480" y="58"/>
      </p:cViewPr>
      <p:guideLst>
        <p:guide orient="horz" pos="2160"/>
        <p:guide pos="3840"/>
        <p:guide pos="7296"/>
        <p:guide orient="horz" pos="412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93" d="100"/>
          <a:sy n="93" d="100"/>
        </p:scale>
        <p:origin x="287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tr-TR" dirty="0"/>
          </a:p>
        </p:txBody>
      </p:sp>
      <p:sp>
        <p:nvSpPr>
          <p:cNvPr id="3" name="Tarih Yer Tutucusu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1FC8FC1-A1A8-42CB-96AC-83684F0DF578}" type="datetime1">
              <a:rPr lang="tr-TR" smtClean="0"/>
              <a:t>9.10.2024</a:t>
            </a:fld>
            <a:endParaRPr lang="tr-TR" dirty="0"/>
          </a:p>
        </p:txBody>
      </p:sp>
      <p:sp>
        <p:nvSpPr>
          <p:cNvPr id="4" name="Alt Bilgi Yer Tutucusu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tr-TR" dirty="0"/>
          </a:p>
        </p:txBody>
      </p:sp>
      <p:sp>
        <p:nvSpPr>
          <p:cNvPr id="5" name="Slayt Numarası Yer Tutucusu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4E50CC-F33A-4EF4-9F12-93EC4A21A0CF}" type="slidenum">
              <a:rPr lang="tr-TR" smtClean="0"/>
              <a:t>‹#›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32329507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tr-TR" noProof="0" dirty="0"/>
          </a:p>
        </p:txBody>
      </p:sp>
      <p:sp>
        <p:nvSpPr>
          <p:cNvPr id="3" name="Tarih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0653A-FB33-4975-A611-5D53C5C337D6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tr-TR" noProof="0" dirty="0"/>
          </a:p>
        </p:txBody>
      </p:sp>
      <p:sp>
        <p:nvSpPr>
          <p:cNvPr id="5" name="Notlar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tr-TR" noProof="0" dirty="0"/>
              <a:t>Asıl metin stillerini düzenlemek için tıklayın</a:t>
            </a:r>
          </a:p>
          <a:p>
            <a:pPr lvl="1" rtl="0"/>
            <a:r>
              <a:rPr lang="tr-TR" noProof="0" dirty="0"/>
              <a:t>İkinci düzey</a:t>
            </a:r>
          </a:p>
          <a:p>
            <a:pPr lvl="2" rtl="0"/>
            <a:r>
              <a:rPr lang="tr-TR" noProof="0" dirty="0"/>
              <a:t>Üçüncü düzey</a:t>
            </a:r>
          </a:p>
          <a:p>
            <a:pPr lvl="3" rtl="0"/>
            <a:r>
              <a:rPr lang="tr-TR" noProof="0" dirty="0"/>
              <a:t>Dördüncü düzey</a:t>
            </a:r>
          </a:p>
          <a:p>
            <a:pPr lvl="4" rtl="0"/>
            <a:r>
              <a:rPr lang="tr-TR" noProof="0" dirty="0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tr-TR" noProof="0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2674CE4-FBD8-4481-AEFB-CA53E599A745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1273268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32674CE4-FBD8-4481-AEFB-CA53E599A745}" type="slidenum">
              <a:rPr lang="tr-TR" smtClean="0"/>
              <a:t>1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147974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2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7313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3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2660999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4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188888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5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5723116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6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9039023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7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059339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8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1058025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9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6389105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10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1726990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11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1744263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12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540490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13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0663797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14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104804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15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5090793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16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8207398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17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1016784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18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41439764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yt Görüntüsü Yer Tutucus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lar Yer Tutucusu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Sununun izleyicilere sağlayacağı faydalar: Yetişkin kişiler, konunun onlar için neden önem taşıdığını bildiklerinde konuya daha fazla ilgi gösterir.</a:t>
            </a: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tr-TR" dirty="0"/>
              <a:t>Sunucunun konuya dair uzmanlık düzeyi: Bu alandaki yeterliliğinizi kısaca açıklayın veya katılımcıların neden sizi dinlemesi gerektiğini ifade edin.</a:t>
            </a:r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CF2FD335-6D8E-486A-8F5F-DFC7325903FF}" type="slidenum">
              <a:rPr lang="tr-TR" smtClean="0"/>
              <a:t>19</a:t>
            </a:fld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978750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ikdörtgen 18"/>
          <p:cNvSpPr/>
          <p:nvPr/>
        </p:nvSpPr>
        <p:spPr>
          <a:xfrm>
            <a:off x="0" y="0"/>
            <a:ext cx="12192000" cy="3701700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3" name="Dikdörtgen 22"/>
          <p:cNvSpPr/>
          <p:nvPr/>
        </p:nvSpPr>
        <p:spPr>
          <a:xfrm flipV="1">
            <a:off x="7213577" y="3810001"/>
            <a:ext cx="4978425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4" name="Dikdörtgen 23"/>
          <p:cNvSpPr/>
          <p:nvPr/>
        </p:nvSpPr>
        <p:spPr>
          <a:xfrm flipV="1">
            <a:off x="7213601" y="3897010"/>
            <a:ext cx="4978401" cy="192024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5" name="Dikdörtgen 24"/>
          <p:cNvSpPr/>
          <p:nvPr/>
        </p:nvSpPr>
        <p:spPr>
          <a:xfrm flipV="1">
            <a:off x="7213601" y="4115167"/>
            <a:ext cx="4978401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6" name="Dikdörtgen 25"/>
          <p:cNvSpPr/>
          <p:nvPr/>
        </p:nvSpPr>
        <p:spPr>
          <a:xfrm flipV="1">
            <a:off x="7213600" y="4164403"/>
            <a:ext cx="2621280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7" name="Dikdörtgen 26"/>
          <p:cNvSpPr/>
          <p:nvPr/>
        </p:nvSpPr>
        <p:spPr>
          <a:xfrm flipV="1">
            <a:off x="7213600" y="4199572"/>
            <a:ext cx="2621280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 useBgFill="1">
        <p:nvSpPr>
          <p:cNvPr id="30" name="Yuvarlatılmış Dikdörtgen 29"/>
          <p:cNvSpPr/>
          <p:nvPr/>
        </p:nvSpPr>
        <p:spPr bwMode="white">
          <a:xfrm>
            <a:off x="7213600" y="3962400"/>
            <a:ext cx="408432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 useBgFill="1">
        <p:nvSpPr>
          <p:cNvPr id="31" name="Yuvarlatılmış Dikdörtgen 30"/>
          <p:cNvSpPr/>
          <p:nvPr/>
        </p:nvSpPr>
        <p:spPr bwMode="white">
          <a:xfrm>
            <a:off x="9835343" y="4060983"/>
            <a:ext cx="21336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7" name="Dikdörtgen 6"/>
          <p:cNvSpPr/>
          <p:nvPr/>
        </p:nvSpPr>
        <p:spPr>
          <a:xfrm>
            <a:off x="1" y="3649662"/>
            <a:ext cx="12192000" cy="244170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10" name="Dikdörtgen 9"/>
          <p:cNvSpPr/>
          <p:nvPr/>
        </p:nvSpPr>
        <p:spPr>
          <a:xfrm>
            <a:off x="1" y="3675528"/>
            <a:ext cx="12192001" cy="14067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11" name="Dikdörtgen 10"/>
          <p:cNvSpPr/>
          <p:nvPr/>
        </p:nvSpPr>
        <p:spPr>
          <a:xfrm flipV="1">
            <a:off x="8552068" y="3643090"/>
            <a:ext cx="3639933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8" name="Başlık 7"/>
          <p:cNvSpPr>
            <a:spLocks noGrp="1"/>
          </p:cNvSpPr>
          <p:nvPr>
            <p:ph type="ctrTitle"/>
          </p:nvPr>
        </p:nvSpPr>
        <p:spPr>
          <a:xfrm>
            <a:off x="609600" y="2389009"/>
            <a:ext cx="11277600" cy="1470025"/>
          </a:xfrm>
        </p:spPr>
        <p:txBody>
          <a:bodyPr rtlCol="0"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9" name="Alt Başlık 8"/>
          <p:cNvSpPr>
            <a:spLocks noGrp="1"/>
          </p:cNvSpPr>
          <p:nvPr>
            <p:ph type="subTitle" idx="1"/>
          </p:nvPr>
        </p:nvSpPr>
        <p:spPr>
          <a:xfrm>
            <a:off x="609600" y="3899938"/>
            <a:ext cx="6604000" cy="1752600"/>
          </a:xfrm>
        </p:spPr>
        <p:txBody>
          <a:bodyPr rtlCol="0"/>
          <a:lstStyle>
            <a:lvl1pPr marL="64008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pPr rtl="0"/>
            <a:r>
              <a:rPr lang="tr-TR" noProof="0" smtClean="0"/>
              <a:t>Asıl alt başlık stilini düzenlemek için tıklayın</a:t>
            </a:r>
            <a:endParaRPr lang="tr-TR" noProof="0" dirty="0"/>
          </a:p>
        </p:txBody>
      </p:sp>
      <p:sp>
        <p:nvSpPr>
          <p:cNvPr id="17" name="Alt Bilgi Yer Tutucusu 16"/>
          <p:cNvSpPr>
            <a:spLocks noGrp="1"/>
          </p:cNvSpPr>
          <p:nvPr>
            <p:ph type="ftr" sz="quarter" idx="11"/>
          </p:nvPr>
        </p:nvSpPr>
        <p:spPr>
          <a:xfrm>
            <a:off x="7265116" y="4205288"/>
            <a:ext cx="1727200" cy="457200"/>
          </a:xfrm>
        </p:spPr>
        <p:txBody>
          <a:bodyPr rtlCol="0"/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28" name="Tarih Yer Tutucusu 27"/>
          <p:cNvSpPr>
            <a:spLocks noGrp="1"/>
          </p:cNvSpPr>
          <p:nvPr>
            <p:ph type="dt" sz="half" idx="10"/>
          </p:nvPr>
        </p:nvSpPr>
        <p:spPr>
          <a:xfrm>
            <a:off x="9043832" y="4206240"/>
            <a:ext cx="1280160" cy="457200"/>
          </a:xfrm>
        </p:spPr>
        <p:txBody>
          <a:bodyPr rtlCol="0"/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8609038-EC1C-40A6-91EB-4A3D73CE9547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29" name="Slayt Numarası Yer Tutucusu 28"/>
          <p:cNvSpPr>
            <a:spLocks noGrp="1"/>
          </p:cNvSpPr>
          <p:nvPr>
            <p:ph type="sldNum" sz="quarter" idx="12"/>
          </p:nvPr>
        </p:nvSpPr>
        <p:spPr>
          <a:xfrm>
            <a:off x="11093451" y="1136"/>
            <a:ext cx="996949" cy="365760"/>
          </a:xfrm>
        </p:spPr>
        <p:txBody>
          <a:bodyPr rtlCol="0"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601152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/>
            </a:lvl1pPr>
            <a:lvl5pPr>
              <a:defRPr/>
            </a:lvl5pPr>
            <a:lvl6pPr>
              <a:defRPr/>
            </a:lvl6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46610F96-FFD0-4BC1-86F0-D957A2A4B8C7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594303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963084" y="1968322"/>
            <a:ext cx="10363200" cy="1362075"/>
          </a:xfrm>
        </p:spPr>
        <p:txBody>
          <a:bodyPr rtlCol="0"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chemeClr val="accent2"/>
                </a:solidFill>
                <a:effectLst/>
              </a:defRPr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kumimoji="0" lang="tr-TR" noProof="0" dirty="0"/>
          </a:p>
        </p:txBody>
      </p:sp>
      <p:sp>
        <p:nvSpPr>
          <p:cNvPr id="3" name="Metin Yer Tutucusu 2"/>
          <p:cNvSpPr>
            <a:spLocks noGrp="1"/>
          </p:cNvSpPr>
          <p:nvPr>
            <p:ph type="body" idx="1"/>
          </p:nvPr>
        </p:nvSpPr>
        <p:spPr>
          <a:xfrm>
            <a:off x="963084" y="3367088"/>
            <a:ext cx="10363200" cy="1509712"/>
          </a:xfrm>
        </p:spPr>
        <p:txBody>
          <a:bodyPr rtlCol="0"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FF56EF26-BBDF-4885-BB66-53FDFCADA69E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270512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İçerik Yer Tutucusu 2"/>
          <p:cNvSpPr>
            <a:spLocks noGrp="1"/>
          </p:cNvSpPr>
          <p:nvPr>
            <p:ph sz="half" idx="1"/>
          </p:nvPr>
        </p:nvSpPr>
        <p:spPr>
          <a:xfrm>
            <a:off x="609600" y="2249425"/>
            <a:ext cx="5384800" cy="4341875"/>
          </a:xfrm>
        </p:spPr>
        <p:txBody>
          <a:bodyPr rtlCol="0"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4" name="İçerik Yer Tutucusu 3"/>
          <p:cNvSpPr>
            <a:spLocks noGrp="1"/>
          </p:cNvSpPr>
          <p:nvPr>
            <p:ph sz="half" idx="2"/>
          </p:nvPr>
        </p:nvSpPr>
        <p:spPr>
          <a:xfrm>
            <a:off x="6197600" y="2249425"/>
            <a:ext cx="5384800" cy="4341875"/>
          </a:xfrm>
        </p:spPr>
        <p:txBody>
          <a:bodyPr rtlCol="0"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A84B813B-74D5-4B4F-94CB-6CD8395E9845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446445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 mod="1">
    <p:ext uri="{DCECCB84-F9BA-43D5-87BE-67443E8EF086}">
      <p15:sldGuideLst xmlns:p15="http://schemas.microsoft.com/office/powerpoint/2012/main">
        <p15:guide id="0" orient="horz" pos="2160" userDrawn="1">
          <p15:clr>
            <a:srgbClr val="FBAE40"/>
          </p15:clr>
        </p15:guide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508000" y="1143000"/>
            <a:ext cx="11176000" cy="1069848"/>
          </a:xfrm>
        </p:spPr>
        <p:txBody>
          <a:bodyPr rtlCol="0" anchor="ctr"/>
          <a:lstStyle>
            <a:lvl1pPr>
              <a:defRPr sz="4000" b="0" i="0" cap="none" baseline="0"/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Metin Yer Tutucusu 2"/>
          <p:cNvSpPr>
            <a:spLocks noGrp="1"/>
          </p:cNvSpPr>
          <p:nvPr>
            <p:ph type="body" idx="1"/>
          </p:nvPr>
        </p:nvSpPr>
        <p:spPr>
          <a:xfrm>
            <a:off x="508000" y="2244970"/>
            <a:ext cx="5388864" cy="457200"/>
          </a:xfrm>
          <a:solidFill>
            <a:schemeClr val="accent2">
              <a:lumMod val="60000"/>
              <a:lumOff val="4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rtlCol="0"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5" name="İçerik Yer Tutucusu 4"/>
          <p:cNvSpPr>
            <a:spLocks noGrp="1"/>
          </p:cNvSpPr>
          <p:nvPr>
            <p:ph sz="quarter" idx="2"/>
          </p:nvPr>
        </p:nvSpPr>
        <p:spPr>
          <a:xfrm>
            <a:off x="508000" y="2708519"/>
            <a:ext cx="5388864" cy="3886200"/>
          </a:xfrm>
        </p:spPr>
        <p:txBody>
          <a:bodyPr rtlCol="0"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4" name="Metin Yer Tutucusu 3"/>
          <p:cNvSpPr>
            <a:spLocks noGrp="1"/>
          </p:cNvSpPr>
          <p:nvPr>
            <p:ph type="body" sz="half" idx="3"/>
          </p:nvPr>
        </p:nvSpPr>
        <p:spPr>
          <a:xfrm>
            <a:off x="6294968" y="2244970"/>
            <a:ext cx="5389033" cy="457200"/>
          </a:xfrm>
          <a:solidFill>
            <a:schemeClr val="accent2">
              <a:lumMod val="60000"/>
              <a:lumOff val="4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rtlCol="0"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6" name="İçerik Yer Tutucusu 5"/>
          <p:cNvSpPr>
            <a:spLocks noGrp="1"/>
          </p:cNvSpPr>
          <p:nvPr>
            <p:ph sz="quarter" idx="4"/>
          </p:nvPr>
        </p:nvSpPr>
        <p:spPr>
          <a:xfrm>
            <a:off x="6291073" y="2708519"/>
            <a:ext cx="5389033" cy="3886200"/>
          </a:xfrm>
        </p:spPr>
        <p:txBody>
          <a:bodyPr rtlCol="0"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28" name="Alt Bilgi Yer Tutucusu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26" name="Tarih Yer Tutucusu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B72EC71D-25AD-4A7C-AB6C-E63D5EDA9366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27" name="Slayt Numarası Yer Tutucusu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70716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609600" y="1143000"/>
            <a:ext cx="10972800" cy="1069848"/>
          </a:xfrm>
        </p:spPr>
        <p:txBody>
          <a:bodyPr rtlCol="0"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4" name="Alt Bilgi Yer Tutucusu 3"/>
          <p:cNvSpPr>
            <a:spLocks noGrp="1"/>
          </p:cNvSpPr>
          <p:nvPr>
            <p:ph type="ftr" sz="quarter" idx="11"/>
          </p:nvPr>
        </p:nvSpPr>
        <p:spPr>
          <a:xfrm>
            <a:off x="7010400" y="612648"/>
            <a:ext cx="1767840" cy="457200"/>
          </a:xfrm>
        </p:spPr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3" name="Tarih Yer Tutucusu 2"/>
          <p:cNvSpPr>
            <a:spLocks noGrp="1"/>
          </p:cNvSpPr>
          <p:nvPr>
            <p:ph type="dt" sz="half" idx="10"/>
          </p:nvPr>
        </p:nvSpPr>
        <p:spPr>
          <a:xfrm>
            <a:off x="8778240" y="612648"/>
            <a:ext cx="1276352" cy="457200"/>
          </a:xfrm>
        </p:spPr>
        <p:txBody>
          <a:bodyPr rtlCol="0"/>
          <a:lstStyle>
            <a:lvl1pPr>
              <a:defRPr/>
            </a:lvl1pPr>
          </a:lstStyle>
          <a:p>
            <a:fld id="{851036E3-487C-41B5-92E9-47E0F0B9591B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5" name="Slayt Numarası Yer Tutucusu 4"/>
          <p:cNvSpPr>
            <a:spLocks noGrp="1"/>
          </p:cNvSpPr>
          <p:nvPr>
            <p:ph type="sldNum" sz="quarter" idx="12"/>
          </p:nvPr>
        </p:nvSpPr>
        <p:spPr>
          <a:xfrm>
            <a:off x="10899648" y="2272"/>
            <a:ext cx="1016000" cy="365760"/>
          </a:xfrm>
        </p:spPr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821952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t Bilgi Yer Tutucusu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2" name="Tarih Yer Tutucusu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E7730CD3-31CA-47BB-8FC4-9AA93086A77D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4" name="Slayt Numarası Yer Tutucusu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1135695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Resim Yazı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 hasCustomPrompt="1"/>
          </p:nvPr>
        </p:nvSpPr>
        <p:spPr>
          <a:xfrm>
            <a:off x="7137995" y="1101970"/>
            <a:ext cx="4511040" cy="877824"/>
          </a:xfrm>
        </p:spPr>
        <p:txBody>
          <a:bodyPr rtlCol="0" anchor="b"/>
          <a:lstStyle>
            <a:lvl1pPr algn="l">
              <a:buNone/>
              <a:defRPr sz="1800" b="1"/>
            </a:lvl1pPr>
          </a:lstStyle>
          <a:p>
            <a:pPr rtl="0"/>
            <a:r>
              <a:rPr lang="tr-TR" noProof="0" dirty="0"/>
              <a:t>Asıl başlık stilini düzenle</a:t>
            </a:r>
          </a:p>
        </p:txBody>
      </p:sp>
      <p:sp>
        <p:nvSpPr>
          <p:cNvPr id="4" name="İçerik Yer Tutucusu 3"/>
          <p:cNvSpPr>
            <a:spLocks noGrp="1"/>
          </p:cNvSpPr>
          <p:nvPr>
            <p:ph sz="half" idx="1"/>
          </p:nvPr>
        </p:nvSpPr>
        <p:spPr>
          <a:xfrm>
            <a:off x="203200" y="776287"/>
            <a:ext cx="6803136" cy="5805083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3" name="Metin Yer Tutucusu 2"/>
          <p:cNvSpPr>
            <a:spLocks noGrp="1"/>
          </p:cNvSpPr>
          <p:nvPr>
            <p:ph type="body" idx="2"/>
          </p:nvPr>
        </p:nvSpPr>
        <p:spPr>
          <a:xfrm>
            <a:off x="7137995" y="2010727"/>
            <a:ext cx="4511040" cy="4580573"/>
          </a:xfrm>
        </p:spPr>
        <p:txBody>
          <a:bodyPr rtlCol="0"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90C5B609-EC73-4CF8-A564-D90D0E54FA36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498685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Resim Yazı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>
          <a:xfrm>
            <a:off x="7253913" y="1109161"/>
            <a:ext cx="782404" cy="4681637"/>
          </a:xfrm>
        </p:spPr>
        <p:txBody>
          <a:bodyPr vert="vert270" lIns="45720" tIns="0" rIns="45720" rtlCol="0" anchor="t"/>
          <a:lstStyle>
            <a:lvl1pPr algn="ctr">
              <a:buNone/>
              <a:defRPr sz="2000" b="1"/>
            </a:lvl1pPr>
          </a:lstStyle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Resim Yer Tutucusu 2" descr="Resim eklemek için boş yer tutucu. Yer tutucuya tıklayın ve eklemek istediğiniz resmi seçin"/>
          <p:cNvSpPr>
            <a:spLocks noGrp="1"/>
          </p:cNvSpPr>
          <p:nvPr>
            <p:ph type="pic" idx="1"/>
          </p:nvPr>
        </p:nvSpPr>
        <p:spPr>
          <a:xfrm>
            <a:off x="538228" y="1143000"/>
            <a:ext cx="60960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 rtlCol="0"/>
          <a:lstStyle>
            <a:lvl1pPr marL="0" indent="0">
              <a:buNone/>
              <a:defRPr sz="3200"/>
            </a:lvl1pPr>
          </a:lstStyle>
          <a:p>
            <a:pPr rtl="0"/>
            <a:r>
              <a:rPr lang="tr-TR" noProof="0" smtClean="0"/>
              <a:t>Resim eklemek için simgeyi tıklatın</a:t>
            </a:r>
            <a:endParaRPr kumimoji="0" lang="tr-TR" noProof="0" dirty="0"/>
          </a:p>
        </p:txBody>
      </p:sp>
      <p:sp>
        <p:nvSpPr>
          <p:cNvPr id="4" name="Metin Yer Tutucusu 3"/>
          <p:cNvSpPr>
            <a:spLocks noGrp="1"/>
          </p:cNvSpPr>
          <p:nvPr>
            <p:ph type="body" sz="half" idx="2"/>
          </p:nvPr>
        </p:nvSpPr>
        <p:spPr>
          <a:xfrm>
            <a:off x="8117924" y="3274309"/>
            <a:ext cx="3454400" cy="2516489"/>
          </a:xfrm>
        </p:spPr>
        <p:txBody>
          <a:bodyPr lIns="0" tIns="0" rIns="45720" rtlCol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5" name="Tarih Yer Tutucusu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D85D7756-B745-4648-9348-5BA7D8FC560E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1883619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noProof="0" smtClean="0"/>
              <a:t>Asıl başlık stili için tıklatın</a:t>
            </a:r>
            <a:endParaRPr lang="tr-TR" noProof="0" dirty="0"/>
          </a:p>
        </p:txBody>
      </p:sp>
      <p:sp>
        <p:nvSpPr>
          <p:cNvPr id="3" name="Dikey Metin Yer Tutucusu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>
              <a:defRPr/>
            </a:lvl1pPr>
            <a:lvl5pPr>
              <a:defRPr/>
            </a:lvl5pPr>
          </a:lstStyle>
          <a:p>
            <a:pPr lvl="0" rtl="0" eaLnBrk="1" latinLnBrk="0" hangingPunct="1"/>
            <a:r>
              <a:rPr lang="tr-TR" noProof="0" smtClean="0"/>
              <a:t>Asıl metin stillerini düzenle</a:t>
            </a:r>
          </a:p>
          <a:p>
            <a:pPr lvl="1" rtl="0" eaLnBrk="1" latinLnBrk="0" hangingPunct="1"/>
            <a:r>
              <a:rPr lang="tr-TR" noProof="0" smtClean="0"/>
              <a:t>İkinci düzey</a:t>
            </a:r>
          </a:p>
          <a:p>
            <a:pPr lvl="2" rtl="0" eaLnBrk="1" latinLnBrk="0" hangingPunct="1"/>
            <a:r>
              <a:rPr lang="tr-TR" noProof="0" smtClean="0"/>
              <a:t>Üçüncü düzey</a:t>
            </a:r>
          </a:p>
          <a:p>
            <a:pPr lvl="3" rtl="0" eaLnBrk="1" latinLnBrk="0" hangingPunct="1"/>
            <a:r>
              <a:rPr lang="tr-TR" noProof="0" smtClean="0"/>
              <a:t>Dördüncü düzey</a:t>
            </a:r>
          </a:p>
          <a:p>
            <a:pPr lvl="4" rtl="0" eaLnBrk="1" latinLnBrk="0" hangingPunct="1"/>
            <a:r>
              <a:rPr lang="tr-TR" noProof="0" smtClean="0"/>
              <a:t>Beşinci düzey</a:t>
            </a:r>
            <a:endParaRPr kumimoji="0"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443DEEBB-C631-4BE4-9EB9-151005B5892D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3467844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/>
          <p:cNvSpPr>
            <a:spLocks noGrp="1"/>
          </p:cNvSpPr>
          <p:nvPr>
            <p:ph type="title" orient="vert" hasCustomPrompt="1"/>
          </p:nvPr>
        </p:nvSpPr>
        <p:spPr>
          <a:xfrm>
            <a:off x="9042400" y="1143000"/>
            <a:ext cx="2540000" cy="5448300"/>
          </a:xfrm>
        </p:spPr>
        <p:txBody>
          <a:bodyPr vert="eaVert" rtlCol="0"/>
          <a:lstStyle>
            <a:lvl1pPr>
              <a:defRPr/>
            </a:lvl1pPr>
          </a:lstStyle>
          <a:p>
            <a:pPr rtl="0"/>
            <a:r>
              <a:rPr lang="tr-TR" noProof="0" dirty="0"/>
              <a:t>Asıl başlık stilini düzenle</a:t>
            </a:r>
          </a:p>
        </p:txBody>
      </p:sp>
      <p:sp>
        <p:nvSpPr>
          <p:cNvPr id="3" name="Dikey Metin Yer Tutucusu 2"/>
          <p:cNvSpPr>
            <a:spLocks noGrp="1"/>
          </p:cNvSpPr>
          <p:nvPr>
            <p:ph type="body" orient="vert" idx="1" hasCustomPrompt="1"/>
          </p:nvPr>
        </p:nvSpPr>
        <p:spPr>
          <a:xfrm>
            <a:off x="609600" y="1143000"/>
            <a:ext cx="8331200" cy="5448300"/>
          </a:xfrm>
        </p:spPr>
        <p:txBody>
          <a:bodyPr vert="eaVert" rtlCol="0"/>
          <a:lstStyle>
            <a:lvl5pPr>
              <a:defRPr/>
            </a:lvl5pPr>
          </a:lstStyle>
          <a:p>
            <a:pPr lvl="0" rtl="0" eaLnBrk="1" latinLnBrk="0" hangingPunct="1"/>
            <a:r>
              <a:rPr lang="tr-TR" noProof="0" dirty="0"/>
              <a:t>Asıl metin stillerini düzenlemek için tıklayın</a:t>
            </a:r>
          </a:p>
          <a:p>
            <a:pPr lvl="1" rtl="0" eaLnBrk="1" latinLnBrk="0" hangingPunct="1"/>
            <a:r>
              <a:rPr lang="tr-TR" noProof="0" dirty="0"/>
              <a:t>İkinci düzey</a:t>
            </a:r>
          </a:p>
          <a:p>
            <a:pPr lvl="2" rtl="0" eaLnBrk="1" latinLnBrk="0" hangingPunct="1"/>
            <a:r>
              <a:rPr lang="tr-TR" noProof="0" dirty="0"/>
              <a:t>Üçüncü düzey</a:t>
            </a:r>
          </a:p>
          <a:p>
            <a:pPr lvl="3" rtl="0" eaLnBrk="1" latinLnBrk="0" hangingPunct="1"/>
            <a:r>
              <a:rPr lang="tr-TR" noProof="0" dirty="0"/>
              <a:t>Dördüncü düzey</a:t>
            </a:r>
          </a:p>
          <a:p>
            <a:pPr lvl="4" rtl="0" eaLnBrk="1" latinLnBrk="0" hangingPunct="1"/>
            <a:r>
              <a:rPr lang="tr-TR" noProof="0" dirty="0"/>
              <a:t>Beşinci düzey</a:t>
            </a:r>
            <a:endParaRPr kumimoji="0" lang="tr-TR" noProof="0" dirty="0"/>
          </a:p>
        </p:txBody>
      </p:sp>
      <p:sp>
        <p:nvSpPr>
          <p:cNvPr id="5" name="Alt Bilgi Yer Tutucusu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4" name="Tarih Yer Tutucusu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fld id="{C76B82DB-6D5C-486A-98D3-E008B7673553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6" name="Slayt Numarası Yer Tutucusu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297808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Dikdörtgen 27"/>
          <p:cNvSpPr/>
          <p:nvPr/>
        </p:nvSpPr>
        <p:spPr>
          <a:xfrm>
            <a:off x="1" y="366819"/>
            <a:ext cx="121920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9" name="Dikdörtgen 28"/>
          <p:cNvSpPr/>
          <p:nvPr/>
        </p:nvSpPr>
        <p:spPr>
          <a:xfrm>
            <a:off x="0" y="-1"/>
            <a:ext cx="121920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0" name="Dikdörtgen 29"/>
          <p:cNvSpPr/>
          <p:nvPr/>
        </p:nvSpPr>
        <p:spPr>
          <a:xfrm>
            <a:off x="1" y="308277"/>
            <a:ext cx="121920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1" name="Dikdörtgen 30"/>
          <p:cNvSpPr/>
          <p:nvPr/>
        </p:nvSpPr>
        <p:spPr>
          <a:xfrm flipV="1">
            <a:off x="7213577" y="360247"/>
            <a:ext cx="4978425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2" name="Dikdörtgen 31"/>
          <p:cNvSpPr/>
          <p:nvPr/>
        </p:nvSpPr>
        <p:spPr>
          <a:xfrm flipV="1">
            <a:off x="7213601" y="440113"/>
            <a:ext cx="497840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 useBgFill="1">
        <p:nvSpPr>
          <p:cNvPr id="33" name="Yuvarlatılmış Dikdörtgen 32"/>
          <p:cNvSpPr/>
          <p:nvPr/>
        </p:nvSpPr>
        <p:spPr bwMode="white">
          <a:xfrm>
            <a:off x="7209785" y="497504"/>
            <a:ext cx="408432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 useBgFill="1">
        <p:nvSpPr>
          <p:cNvPr id="34" name="Yuvarlatılmış Dikdörtgen 33"/>
          <p:cNvSpPr/>
          <p:nvPr/>
        </p:nvSpPr>
        <p:spPr bwMode="white">
          <a:xfrm>
            <a:off x="9831528" y="588943"/>
            <a:ext cx="21336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5" name="Dikdörtgen 34"/>
          <p:cNvSpPr/>
          <p:nvPr/>
        </p:nvSpPr>
        <p:spPr bwMode="invGray">
          <a:xfrm>
            <a:off x="12113288" y="-2001"/>
            <a:ext cx="76835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6" name="Dikdörtgen 35"/>
          <p:cNvSpPr/>
          <p:nvPr/>
        </p:nvSpPr>
        <p:spPr bwMode="invGray">
          <a:xfrm>
            <a:off x="12059308" y="-2001"/>
            <a:ext cx="36576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7" name="Dikdörtgen 36"/>
          <p:cNvSpPr/>
          <p:nvPr/>
        </p:nvSpPr>
        <p:spPr bwMode="invGray">
          <a:xfrm>
            <a:off x="12033904" y="-2001"/>
            <a:ext cx="12192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8" name="Dikdörtgen 37"/>
          <p:cNvSpPr/>
          <p:nvPr/>
        </p:nvSpPr>
        <p:spPr bwMode="invGray">
          <a:xfrm>
            <a:off x="11967231" y="-2001"/>
            <a:ext cx="36576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39" name="Dikdörtgen 38"/>
          <p:cNvSpPr/>
          <p:nvPr/>
        </p:nvSpPr>
        <p:spPr bwMode="invGray">
          <a:xfrm>
            <a:off x="11887569" y="380"/>
            <a:ext cx="73152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40" name="Dikdörtgen 39"/>
          <p:cNvSpPr/>
          <p:nvPr/>
        </p:nvSpPr>
        <p:spPr bwMode="invGray">
          <a:xfrm>
            <a:off x="11831300" y="380"/>
            <a:ext cx="12192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 eaLnBrk="1" latinLnBrk="0" hangingPunct="1"/>
            <a:endParaRPr kumimoji="0" lang="tr-TR" sz="1800" noProof="0" dirty="0"/>
          </a:p>
        </p:txBody>
      </p:sp>
      <p:sp>
        <p:nvSpPr>
          <p:cNvPr id="22" name="Başlık Yer Tutucusu 21"/>
          <p:cNvSpPr>
            <a:spLocks noGrp="1"/>
          </p:cNvSpPr>
          <p:nvPr>
            <p:ph type="title"/>
          </p:nvPr>
        </p:nvSpPr>
        <p:spPr>
          <a:xfrm>
            <a:off x="609600" y="1143000"/>
            <a:ext cx="10972800" cy="1066800"/>
          </a:xfrm>
          <a:prstGeom prst="rect">
            <a:avLst/>
          </a:prstGeom>
        </p:spPr>
        <p:txBody>
          <a:bodyPr vert="horz" rtlCol="0" anchor="ctr">
            <a:normAutofit/>
          </a:bodyPr>
          <a:lstStyle/>
          <a:p>
            <a:pPr rtl="0"/>
            <a:r>
              <a:rPr lang="tr-TR" noProof="0" dirty="0"/>
              <a:t>Asıl başlık stilini düzenlemek için tıklayın</a:t>
            </a:r>
          </a:p>
        </p:txBody>
      </p:sp>
      <p:sp>
        <p:nvSpPr>
          <p:cNvPr id="13" name="Metin Yer Tutucusu 12"/>
          <p:cNvSpPr>
            <a:spLocks noGrp="1"/>
          </p:cNvSpPr>
          <p:nvPr>
            <p:ph type="body" idx="1"/>
          </p:nvPr>
        </p:nvSpPr>
        <p:spPr>
          <a:xfrm>
            <a:off x="609600" y="2249424"/>
            <a:ext cx="10972800" cy="4325112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 rtl="0"/>
            <a:r>
              <a:rPr lang="tr-TR" noProof="0" dirty="0"/>
              <a:t>Asıl metin stillerini düzenle</a:t>
            </a:r>
          </a:p>
          <a:p>
            <a:pPr lvl="1" rtl="0"/>
            <a:r>
              <a:rPr lang="tr-TR" noProof="0" dirty="0"/>
              <a:t>İkinci düzey</a:t>
            </a:r>
          </a:p>
          <a:p>
            <a:pPr lvl="2" rtl="0"/>
            <a:r>
              <a:rPr lang="tr-TR" noProof="0" dirty="0"/>
              <a:t>Üçüncü düzey</a:t>
            </a:r>
          </a:p>
          <a:p>
            <a:pPr lvl="3" rtl="0"/>
            <a:r>
              <a:rPr lang="tr-TR" noProof="0" dirty="0"/>
              <a:t>Dördüncü düzey</a:t>
            </a:r>
          </a:p>
          <a:p>
            <a:pPr lvl="4" rtl="0"/>
            <a:r>
              <a:rPr lang="tr-TR" noProof="0" dirty="0"/>
              <a:t>Beşinci düzey</a:t>
            </a:r>
          </a:p>
        </p:txBody>
      </p:sp>
      <p:sp>
        <p:nvSpPr>
          <p:cNvPr id="3" name="Alt Bilgi Yer Tutucusu 2"/>
          <p:cNvSpPr>
            <a:spLocks noGrp="1"/>
          </p:cNvSpPr>
          <p:nvPr>
            <p:ph type="ftr" sz="quarter" idx="3"/>
          </p:nvPr>
        </p:nvSpPr>
        <p:spPr>
          <a:xfrm>
            <a:off x="7010400" y="612648"/>
            <a:ext cx="1767840" cy="457200"/>
          </a:xfrm>
          <a:prstGeom prst="rect">
            <a:avLst/>
          </a:prstGeom>
        </p:spPr>
        <p:txBody>
          <a:bodyPr vert="horz" rtlCol="0"/>
          <a:lstStyle>
            <a:lvl1pPr algn="r" eaLnBrk="1" latinLnBrk="0" hangingPunct="1">
              <a:defRPr kumimoji="0" sz="11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pPr rtl="0"/>
            <a:r>
              <a:rPr lang="tr-TR" noProof="0" dirty="0"/>
              <a:t>Alt bilgi ekleme</a:t>
            </a:r>
          </a:p>
        </p:txBody>
      </p:sp>
      <p:sp>
        <p:nvSpPr>
          <p:cNvPr id="14" name="Tarih Yer Tutucusu 13"/>
          <p:cNvSpPr>
            <a:spLocks noGrp="1"/>
          </p:cNvSpPr>
          <p:nvPr>
            <p:ph type="dt" sz="half" idx="2"/>
          </p:nvPr>
        </p:nvSpPr>
        <p:spPr>
          <a:xfrm>
            <a:off x="8782048" y="612648"/>
            <a:ext cx="1276352" cy="457200"/>
          </a:xfrm>
          <a:prstGeom prst="rect">
            <a:avLst/>
          </a:prstGeom>
        </p:spPr>
        <p:txBody>
          <a:bodyPr vert="horz" rtlCol="0"/>
          <a:lstStyle>
            <a:lvl1pPr algn="l" eaLnBrk="1" latinLnBrk="0" hangingPunct="1">
              <a:defRPr kumimoji="0" sz="1100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8A9E5AA4-4083-47B0-96D9-3464BE7D917D}" type="datetime1">
              <a:rPr lang="tr-TR" smtClean="0"/>
              <a:pPr/>
              <a:t>9.10.2024</a:t>
            </a:fld>
            <a:endParaRPr lang="tr-TR" dirty="0"/>
          </a:p>
        </p:txBody>
      </p:sp>
      <p:sp>
        <p:nvSpPr>
          <p:cNvPr id="23" name="Slayt Numarası Yer Tutucusu 22"/>
          <p:cNvSpPr>
            <a:spLocks noGrp="1"/>
          </p:cNvSpPr>
          <p:nvPr>
            <p:ph type="sldNum" sz="quarter" idx="4"/>
          </p:nvPr>
        </p:nvSpPr>
        <p:spPr>
          <a:xfrm>
            <a:off x="10899648" y="2272"/>
            <a:ext cx="1016000" cy="365760"/>
          </a:xfrm>
          <a:prstGeom prst="rect">
            <a:avLst/>
          </a:prstGeom>
        </p:spPr>
        <p:txBody>
          <a:bodyPr vert="horz" rtlCol="0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pPr rtl="0"/>
            <a:fld id="{401CF334-2D5C-4859-84A6-CA7E6E43FAEB}" type="slidenum">
              <a:rPr lang="tr-TR" noProof="0" smtClean="0"/>
              <a:t>‹#›</a:t>
            </a:fld>
            <a:endParaRPr lang="tr-TR" noProof="0" dirty="0"/>
          </a:p>
        </p:txBody>
      </p:sp>
    </p:spTree>
    <p:extLst>
      <p:ext uri="{BB962C8B-B14F-4D97-AF65-F5344CB8AC3E}">
        <p14:creationId xmlns:p14="http://schemas.microsoft.com/office/powerpoint/2010/main" val="2132171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>
            <a:lumMod val="75000"/>
          </a:schemeClr>
        </a:buClr>
        <a:buFont typeface="Georgia"/>
        <a:buChar char="•"/>
        <a:defRPr kumimoji="0"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>
            <a:lumMod val="75000"/>
          </a:schemeClr>
        </a:buClr>
        <a:buFont typeface="Georgia"/>
        <a:buChar char="▫"/>
        <a:defRPr kumimoji="0" sz="2600" kern="1200">
          <a:solidFill>
            <a:schemeClr val="tx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1500" kern="1200">
          <a:solidFill>
            <a:schemeClr val="tx2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1">
            <a:lumMod val="50000"/>
          </a:schemeClr>
        </a:buClr>
        <a:buFont typeface="Wingdings 2" panose="05020102010507070707" pitchFamily="18" charset="2"/>
        <a:buChar char="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0" orient="horz" pos="2160" userDrawn="1">
          <p15:clr>
            <a:srgbClr val="F26B43"/>
          </p15:clr>
        </p15:guide>
        <p15:guide id="1" pos="3840" userDrawn="1">
          <p15:clr>
            <a:srgbClr val="F26B43"/>
          </p15:clr>
        </p15:guide>
        <p15:guide id="2" orient="horz" pos="415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Grafik ve Animasyon</a:t>
            </a:r>
            <a:endParaRPr lang="tr-TR" dirty="0"/>
          </a:p>
        </p:txBody>
      </p:sp>
      <p:sp>
        <p:nvSpPr>
          <p:cNvPr id="3" name="Alt Başlık 2"/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tr-TR" dirty="0" err="1" smtClean="0"/>
              <a:t>Öğr</a:t>
            </a:r>
            <a:r>
              <a:rPr lang="tr-TR" dirty="0" smtClean="0"/>
              <a:t>. Gör. Zafer SERİN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706305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algn="just"/>
            <a:r>
              <a:rPr lang="tr-TR" dirty="0" smtClean="0"/>
              <a:t>3 boyutlu modellerin temsil edilmesi için 3 temel yaklaşım kullanılmaktadır. Bunlar: </a:t>
            </a:r>
            <a:r>
              <a:rPr lang="tr-TR" dirty="0" err="1" smtClean="0"/>
              <a:t>Voxel</a:t>
            </a:r>
            <a:r>
              <a:rPr lang="tr-TR" dirty="0" smtClean="0"/>
              <a:t>[</a:t>
            </a:r>
            <a:r>
              <a:rPr lang="tr-TR" dirty="0" err="1" smtClean="0"/>
              <a:t>Volumetric</a:t>
            </a:r>
            <a:r>
              <a:rPr lang="tr-TR" dirty="0" smtClean="0"/>
              <a:t> </a:t>
            </a:r>
            <a:r>
              <a:rPr lang="tr-TR" dirty="0" err="1" smtClean="0"/>
              <a:t>Pixel</a:t>
            </a:r>
            <a:r>
              <a:rPr lang="tr-TR" dirty="0" smtClean="0"/>
              <a:t>(Hacimsel Piksel)], Point-</a:t>
            </a:r>
            <a:r>
              <a:rPr lang="tr-TR" dirty="0" err="1" smtClean="0"/>
              <a:t>Cloud</a:t>
            </a:r>
            <a:r>
              <a:rPr lang="tr-TR" dirty="0" smtClean="0"/>
              <a:t>(Nokta-Bulut) ve Poligon(Çokgen) Ağlar olarak ifade edilebilir.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859821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 lnSpcReduction="10000"/>
          </a:bodyPr>
          <a:lstStyle/>
          <a:p>
            <a:pPr marL="624078" indent="-514350" algn="just">
              <a:buFont typeface="+mj-lt"/>
              <a:buAutoNum type="arabicPeriod"/>
            </a:pPr>
            <a:r>
              <a:rPr lang="tr-TR" dirty="0" err="1" smtClean="0"/>
              <a:t>Voxel</a:t>
            </a:r>
            <a:r>
              <a:rPr lang="tr-TR" dirty="0" smtClean="0"/>
              <a:t>(</a:t>
            </a:r>
            <a:r>
              <a:rPr lang="tr-TR" dirty="0" err="1" smtClean="0"/>
              <a:t>Volumetric</a:t>
            </a:r>
            <a:r>
              <a:rPr lang="tr-TR" dirty="0" smtClean="0"/>
              <a:t> </a:t>
            </a:r>
            <a:r>
              <a:rPr lang="tr-TR" dirty="0" err="1" smtClean="0"/>
              <a:t>Pixel</a:t>
            </a:r>
            <a:r>
              <a:rPr lang="tr-TR" dirty="0" smtClean="0"/>
              <a:t>): </a:t>
            </a:r>
            <a:r>
              <a:rPr lang="tr-TR" dirty="0" err="1" smtClean="0"/>
              <a:t>Voxel</a:t>
            </a:r>
            <a:r>
              <a:rPr lang="tr-TR" dirty="0"/>
              <a:t>, 3D uzayda bir kübik hücreyi temsil eder ve bu hücrelerin bir araya gelmesiyle 3D modeller oluşturulur</a:t>
            </a:r>
            <a:r>
              <a:rPr lang="tr-TR" dirty="0" smtClean="0"/>
              <a:t>.</a:t>
            </a:r>
          </a:p>
          <a:p>
            <a:r>
              <a:rPr lang="tr-TR" b="1" dirty="0"/>
              <a:t>Avantajlar</a:t>
            </a:r>
            <a:r>
              <a:rPr lang="tr-TR" dirty="0"/>
              <a:t>:</a:t>
            </a:r>
          </a:p>
          <a:p>
            <a:pPr lvl="1"/>
            <a:r>
              <a:rPr lang="tr-TR" dirty="0"/>
              <a:t>Esneklik: Karmaşık geometrilerin temsil edilmesi için uygundur.</a:t>
            </a:r>
          </a:p>
          <a:p>
            <a:pPr lvl="1"/>
            <a:r>
              <a:rPr lang="tr-TR" dirty="0"/>
              <a:t>İşleme: Hacimsel verilerin işlenmesi ve analizi için uygundur.</a:t>
            </a:r>
          </a:p>
          <a:p>
            <a:r>
              <a:rPr lang="tr-TR" b="1" dirty="0"/>
              <a:t>Dezavantajlar</a:t>
            </a:r>
            <a:r>
              <a:rPr lang="tr-TR" dirty="0"/>
              <a:t>:</a:t>
            </a:r>
          </a:p>
          <a:p>
            <a:pPr lvl="1"/>
            <a:r>
              <a:rPr lang="tr-TR" dirty="0"/>
              <a:t>Veri yoğunluğu: Yüksek çözünürlüklü modeller için büyük miktarda veri gerekebilir.</a:t>
            </a:r>
          </a:p>
          <a:p>
            <a:pPr lvl="1"/>
            <a:r>
              <a:rPr lang="tr-TR" dirty="0"/>
              <a:t>Hesaplama maliyeti: Yüksek çözünürlüklü modeller için yüksek hesaplama gücü gerekebilir</a:t>
            </a:r>
            <a:r>
              <a:rPr lang="tr-TR" dirty="0" smtClean="0"/>
              <a:t>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500065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pic>
        <p:nvPicPr>
          <p:cNvPr id="1026" name="Picture 2" descr="Voxel - Wikipedia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2209800"/>
            <a:ext cx="3150000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What is a voxel? - Mega Voxel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4789" y="2209800"/>
            <a:ext cx="6877611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9511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pic>
        <p:nvPicPr>
          <p:cNvPr id="2050" name="Picture 2" descr="The Main Benefits and Disadvantages of Voxel Modeli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2209800"/>
            <a:ext cx="3388888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oxel Chick düşük poli 3D Model $3 - .3ds .dae .fbx .obj .unknown - Free3D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401" y="2209800"/>
            <a:ext cx="5399999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5150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 lnSpcReduction="10000"/>
          </a:bodyPr>
          <a:lstStyle/>
          <a:p>
            <a:pPr marL="624078" indent="-514350" algn="just">
              <a:buFont typeface="+mj-lt"/>
              <a:buAutoNum type="arabicPeriod" startAt="2"/>
            </a:pPr>
            <a:r>
              <a:rPr lang="tr-TR" dirty="0" smtClean="0"/>
              <a:t>Point-</a:t>
            </a:r>
            <a:r>
              <a:rPr lang="tr-TR" dirty="0" err="1" smtClean="0"/>
              <a:t>Cloud</a:t>
            </a:r>
            <a:r>
              <a:rPr lang="tr-TR" dirty="0"/>
              <a:t>(Nokta-Bulut): Nokta bulutu, 3D uzayda bir dizi noktadan oluşan bir veri kümesidir. Bu noktalar, genellikle bir 3D tarayıcı veya </a:t>
            </a:r>
            <a:r>
              <a:rPr lang="tr-TR" dirty="0" err="1"/>
              <a:t>LiDAR</a:t>
            </a:r>
            <a:r>
              <a:rPr lang="tr-TR" dirty="0"/>
              <a:t> gibi </a:t>
            </a:r>
            <a:r>
              <a:rPr lang="tr-TR" dirty="0" err="1"/>
              <a:t>sensörlerle</a:t>
            </a:r>
            <a:r>
              <a:rPr lang="tr-TR" dirty="0"/>
              <a:t> toplanır</a:t>
            </a:r>
            <a:r>
              <a:rPr lang="tr-TR" dirty="0" smtClean="0"/>
              <a:t>.</a:t>
            </a:r>
          </a:p>
          <a:p>
            <a:r>
              <a:rPr lang="tr-TR" b="1" dirty="0"/>
              <a:t>Avantajlar</a:t>
            </a:r>
            <a:r>
              <a:rPr lang="tr-TR" dirty="0"/>
              <a:t>:</a:t>
            </a:r>
          </a:p>
          <a:p>
            <a:pPr lvl="1"/>
            <a:r>
              <a:rPr lang="tr-TR" dirty="0"/>
              <a:t>Veri zenginliği: Gerçek dünya nesnelerinin yüksek doğrulukta temsil edilmesini sağlar.</a:t>
            </a:r>
          </a:p>
          <a:p>
            <a:pPr lvl="1"/>
            <a:r>
              <a:rPr lang="tr-TR" dirty="0"/>
              <a:t>Hızlı toplama: 3D veri toplamak için hızlı ve etkili bir yöntemdir.</a:t>
            </a:r>
          </a:p>
          <a:p>
            <a:r>
              <a:rPr lang="tr-TR" b="1" dirty="0"/>
              <a:t>Dezavantajlar</a:t>
            </a:r>
            <a:r>
              <a:rPr lang="tr-TR" dirty="0"/>
              <a:t>:</a:t>
            </a:r>
          </a:p>
          <a:p>
            <a:pPr lvl="1"/>
            <a:r>
              <a:rPr lang="tr-TR" dirty="0"/>
              <a:t>Veri yoğunluğu: Büyük nokta bulutları için yüksek miktarda veri gerekebilir.</a:t>
            </a:r>
          </a:p>
          <a:p>
            <a:pPr lvl="1"/>
            <a:r>
              <a:rPr lang="tr-TR" dirty="0"/>
              <a:t>İşleme zorluğu: Nokta bulutlarının işlenmesi ve analiz edilmesi zor olabilir</a:t>
            </a:r>
            <a:r>
              <a:rPr lang="tr-TR" dirty="0" smtClean="0"/>
              <a:t>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918417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pic>
        <p:nvPicPr>
          <p:cNvPr id="3074" name="Picture 2" descr="Dosya:Point cloud torus.gif - Vikipedi"/>
          <p:cNvPicPr>
            <a:picLocks noGrp="1" noChangeAspect="1" noChangeArrowheads="1" noCrop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2209800"/>
            <a:ext cx="3600000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3D Point Cloud Edit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1646" y="2209800"/>
            <a:ext cx="4520754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0289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 lnSpcReduction="10000"/>
          </a:bodyPr>
          <a:lstStyle/>
          <a:p>
            <a:pPr marL="624078" indent="-514350" algn="just">
              <a:buFont typeface="+mj-lt"/>
              <a:buAutoNum type="arabicPeriod" startAt="3"/>
            </a:pPr>
            <a:r>
              <a:rPr lang="tr-TR" dirty="0"/>
              <a:t>Poligon(Çokgen): 3D modeller genellikle üçgen veya dörtgen gibi çokgenlerden oluşan ağlarla temsil edilir. Bu çokgenlerin köşeleri (</a:t>
            </a:r>
            <a:r>
              <a:rPr lang="tr-TR" dirty="0" err="1"/>
              <a:t>vertices</a:t>
            </a:r>
            <a:r>
              <a:rPr lang="tr-TR" dirty="0"/>
              <a:t>), kenarları (</a:t>
            </a:r>
            <a:r>
              <a:rPr lang="tr-TR" dirty="0" err="1"/>
              <a:t>edges</a:t>
            </a:r>
            <a:r>
              <a:rPr lang="tr-TR" dirty="0"/>
              <a:t>) ve yüzleri (</a:t>
            </a:r>
            <a:r>
              <a:rPr lang="tr-TR" dirty="0" err="1"/>
              <a:t>faces</a:t>
            </a:r>
            <a:r>
              <a:rPr lang="tr-TR" dirty="0"/>
              <a:t>) vardır</a:t>
            </a:r>
            <a:r>
              <a:rPr lang="tr-TR" dirty="0" smtClean="0"/>
              <a:t>.</a:t>
            </a:r>
          </a:p>
          <a:p>
            <a:r>
              <a:rPr lang="tr-TR" b="1" dirty="0"/>
              <a:t>Avantajlar</a:t>
            </a:r>
            <a:r>
              <a:rPr lang="tr-TR" dirty="0"/>
              <a:t>:</a:t>
            </a:r>
          </a:p>
          <a:p>
            <a:pPr lvl="1"/>
            <a:r>
              <a:rPr lang="tr-TR" dirty="0"/>
              <a:t>Esneklik: Karmaşık şekilleri temsil etmek için uygundur.</a:t>
            </a:r>
          </a:p>
          <a:p>
            <a:pPr lvl="1"/>
            <a:r>
              <a:rPr lang="tr-TR" dirty="0"/>
              <a:t>Verimli: Düşük çözünürlüklü modeller için hafıza ve işlem gücü açısından verimlidir.</a:t>
            </a:r>
          </a:p>
          <a:p>
            <a:r>
              <a:rPr lang="tr-TR" b="1" dirty="0"/>
              <a:t>Dezavantajlar</a:t>
            </a:r>
            <a:r>
              <a:rPr lang="tr-TR" dirty="0"/>
              <a:t>:</a:t>
            </a:r>
          </a:p>
          <a:p>
            <a:pPr lvl="1"/>
            <a:r>
              <a:rPr lang="tr-TR" dirty="0"/>
              <a:t>Yüksek çözünürlüklü modeller için çok sayıda çokgen gerekebilir.</a:t>
            </a:r>
          </a:p>
          <a:p>
            <a:pPr lvl="1"/>
            <a:r>
              <a:rPr lang="tr-TR" dirty="0"/>
              <a:t>Karmaşık geometrilerde veri yönetimi zor olabilir</a:t>
            </a:r>
            <a:r>
              <a:rPr lang="tr-TR" dirty="0" smtClean="0"/>
              <a:t>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91191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pic>
        <p:nvPicPr>
          <p:cNvPr id="4098" name="Picture 2" descr="Polygon mesh - Wikipedia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2209800"/>
            <a:ext cx="5837340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opengl - How to efficiently render mesh surface with the polygon edges  outlined? - Stack Overflow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2649" y="2209800"/>
            <a:ext cx="3909751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8097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 lnSpcReduction="10000"/>
          </a:bodyPr>
          <a:lstStyle/>
          <a:p>
            <a:pPr marL="624078" indent="-514350" algn="just">
              <a:buFont typeface="+mj-lt"/>
              <a:buAutoNum type="arabicPeriod" startAt="3"/>
            </a:pPr>
            <a:r>
              <a:rPr lang="tr-TR" dirty="0"/>
              <a:t>Poligon(Çokgen): 3D modeller genellikle üçgen veya dörtgen gibi çokgenlerden oluşan ağlarla temsil edilir. Bu çokgenlerin köşeleri (</a:t>
            </a:r>
            <a:r>
              <a:rPr lang="tr-TR" dirty="0" err="1"/>
              <a:t>vertices</a:t>
            </a:r>
            <a:r>
              <a:rPr lang="tr-TR" dirty="0"/>
              <a:t>), kenarları (</a:t>
            </a:r>
            <a:r>
              <a:rPr lang="tr-TR" dirty="0" err="1"/>
              <a:t>edges</a:t>
            </a:r>
            <a:r>
              <a:rPr lang="tr-TR" dirty="0"/>
              <a:t>) ve yüzleri (</a:t>
            </a:r>
            <a:r>
              <a:rPr lang="tr-TR" dirty="0" err="1"/>
              <a:t>faces</a:t>
            </a:r>
            <a:r>
              <a:rPr lang="tr-TR" dirty="0"/>
              <a:t>) vardır</a:t>
            </a:r>
            <a:r>
              <a:rPr lang="tr-TR" dirty="0" smtClean="0"/>
              <a:t>.</a:t>
            </a:r>
          </a:p>
          <a:p>
            <a:r>
              <a:rPr lang="tr-TR" b="1" dirty="0"/>
              <a:t>Avantajlar</a:t>
            </a:r>
            <a:r>
              <a:rPr lang="tr-TR" dirty="0"/>
              <a:t>:</a:t>
            </a:r>
          </a:p>
          <a:p>
            <a:pPr lvl="1"/>
            <a:r>
              <a:rPr lang="tr-TR" dirty="0"/>
              <a:t>Esneklik: Karmaşık şekilleri temsil etmek için uygundur.</a:t>
            </a:r>
          </a:p>
          <a:p>
            <a:pPr lvl="1"/>
            <a:r>
              <a:rPr lang="tr-TR" dirty="0"/>
              <a:t>Verimli: Düşük çözünürlüklü modeller için hafıza ve işlem gücü açısından verimlidir.</a:t>
            </a:r>
          </a:p>
          <a:p>
            <a:r>
              <a:rPr lang="tr-TR" b="1" dirty="0"/>
              <a:t>Dezavantajlar</a:t>
            </a:r>
            <a:r>
              <a:rPr lang="tr-TR" dirty="0"/>
              <a:t>:</a:t>
            </a:r>
          </a:p>
          <a:p>
            <a:pPr lvl="1"/>
            <a:r>
              <a:rPr lang="tr-TR" dirty="0"/>
              <a:t>Yüksek çözünürlüklü modeller için çok sayıda çokgen gerekebilir.</a:t>
            </a:r>
          </a:p>
          <a:p>
            <a:pPr lvl="1"/>
            <a:r>
              <a:rPr lang="tr-TR" dirty="0"/>
              <a:t>Karmaşık geometrilerde veri yönetimi zor olabilir</a:t>
            </a:r>
            <a:r>
              <a:rPr lang="tr-TR" dirty="0" smtClean="0"/>
              <a:t>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804968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 lnSpcReduction="10000"/>
          </a:bodyPr>
          <a:lstStyle/>
          <a:p>
            <a:pPr marL="109728" indent="0" algn="just">
              <a:buNone/>
            </a:pPr>
            <a:r>
              <a:rPr lang="tr-TR" dirty="0" smtClean="0"/>
              <a:t>Temel poligon-mesh temsili kavramları:</a:t>
            </a:r>
          </a:p>
          <a:p>
            <a:pPr marL="624078" indent="-514350" algn="just">
              <a:buFont typeface="+mj-lt"/>
              <a:buAutoNum type="arabicPeriod"/>
            </a:pPr>
            <a:r>
              <a:rPr lang="tr-TR" b="1" dirty="0" err="1" smtClean="0"/>
              <a:t>Vertex</a:t>
            </a:r>
            <a:r>
              <a:rPr lang="tr-TR" b="1" dirty="0"/>
              <a:t>(Köşe): </a:t>
            </a:r>
            <a:r>
              <a:rPr lang="tr-TR" dirty="0" err="1"/>
              <a:t>Vertex</a:t>
            </a:r>
            <a:r>
              <a:rPr lang="tr-TR" dirty="0"/>
              <a:t>, 3D uzayda bir noktayı temsil eder. Her </a:t>
            </a:r>
            <a:r>
              <a:rPr lang="tr-TR" dirty="0" err="1"/>
              <a:t>vertex</a:t>
            </a:r>
            <a:r>
              <a:rPr lang="tr-TR" dirty="0"/>
              <a:t>, genellikle X, Y ve Z koordinatları ile tanımlanır. Mesh yapısındaki tüm geometri, bu </a:t>
            </a:r>
            <a:r>
              <a:rPr lang="tr-TR" dirty="0" err="1"/>
              <a:t>vertex'lerin</a:t>
            </a:r>
            <a:r>
              <a:rPr lang="tr-TR" dirty="0"/>
              <a:t> birleştirilmesiyle oluşur</a:t>
            </a:r>
            <a:r>
              <a:rPr lang="tr-TR" dirty="0" smtClean="0"/>
              <a:t>.</a:t>
            </a:r>
          </a:p>
          <a:p>
            <a:pPr marL="624078" indent="-514350">
              <a:buFont typeface="+mj-lt"/>
              <a:buAutoNum type="arabicPeriod"/>
            </a:pPr>
            <a:r>
              <a:rPr lang="tr-TR" b="1" dirty="0" err="1"/>
              <a:t>Edge</a:t>
            </a:r>
            <a:r>
              <a:rPr lang="tr-TR" b="1" dirty="0"/>
              <a:t> (Kenar</a:t>
            </a:r>
            <a:r>
              <a:rPr lang="tr-TR" b="1" dirty="0" smtClean="0"/>
              <a:t>): </a:t>
            </a:r>
            <a:r>
              <a:rPr lang="tr-TR" dirty="0" err="1" smtClean="0"/>
              <a:t>Edge</a:t>
            </a:r>
            <a:r>
              <a:rPr lang="tr-TR" dirty="0"/>
              <a:t>, iki </a:t>
            </a:r>
            <a:r>
              <a:rPr lang="tr-TR" dirty="0" err="1"/>
              <a:t>vertex</a:t>
            </a:r>
            <a:r>
              <a:rPr lang="tr-TR" dirty="0"/>
              <a:t> arasındaki doğru parçasıdır. Kenar, mesh yapısındaki çokgenlerin yapı taşlarını oluşturur.</a:t>
            </a:r>
          </a:p>
          <a:p>
            <a:pPr marL="624078" indent="-514350" algn="just">
              <a:buFont typeface="+mj-lt"/>
              <a:buAutoNum type="arabicPeriod"/>
            </a:pPr>
            <a:r>
              <a:rPr lang="tr-TR" b="1" dirty="0" err="1"/>
              <a:t>Face</a:t>
            </a:r>
            <a:r>
              <a:rPr lang="tr-TR" b="1" dirty="0"/>
              <a:t> (Yüz</a:t>
            </a:r>
            <a:r>
              <a:rPr lang="tr-TR" b="1" dirty="0" smtClean="0"/>
              <a:t>):</a:t>
            </a:r>
            <a:r>
              <a:rPr lang="tr-TR" dirty="0" smtClean="0"/>
              <a:t> </a:t>
            </a:r>
            <a:r>
              <a:rPr lang="tr-TR" dirty="0" err="1" smtClean="0"/>
              <a:t>Face</a:t>
            </a:r>
            <a:r>
              <a:rPr lang="tr-TR" dirty="0"/>
              <a:t>, bir veya daha fazla kenar tarafından sınırlanan düzlemsel bir alandır. En yaygın olarak, üçgen (</a:t>
            </a:r>
            <a:r>
              <a:rPr lang="tr-TR" dirty="0" err="1"/>
              <a:t>triangle</a:t>
            </a:r>
            <a:r>
              <a:rPr lang="tr-TR" dirty="0"/>
              <a:t>) veya dörtgen (</a:t>
            </a:r>
            <a:r>
              <a:rPr lang="tr-TR" dirty="0" err="1"/>
              <a:t>quad</a:t>
            </a:r>
            <a:r>
              <a:rPr lang="tr-TR" dirty="0"/>
              <a:t>) şeklinde olan yüzler kullanılır. Bir yüz, mesh yapısındaki temel geometrik birimdir.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268374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r>
              <a:rPr lang="tr-TR" dirty="0" smtClean="0"/>
              <a:t>Temel poligon-mesh temsili kavramları:</a:t>
            </a:r>
          </a:p>
          <a:p>
            <a:pPr marL="624078" indent="-514350" algn="just">
              <a:buFont typeface="+mj-lt"/>
              <a:buAutoNum type="arabicPeriod" startAt="4"/>
            </a:pPr>
            <a:r>
              <a:rPr lang="tr-TR" b="1" dirty="0" err="1"/>
              <a:t>Polygon</a:t>
            </a:r>
            <a:r>
              <a:rPr lang="tr-TR" b="1" dirty="0"/>
              <a:t> (Çokgen</a:t>
            </a:r>
            <a:r>
              <a:rPr lang="tr-TR" b="1" dirty="0" smtClean="0"/>
              <a:t>): </a:t>
            </a:r>
            <a:r>
              <a:rPr lang="tr-TR" dirty="0" err="1" smtClean="0"/>
              <a:t>Polygon</a:t>
            </a:r>
            <a:r>
              <a:rPr lang="tr-TR" dirty="0"/>
              <a:t>, bir veya daha fazla yüzden oluşan bir yapıdır. Genellikle, üçgenler veya dörtgenler kullanılır. </a:t>
            </a:r>
            <a:r>
              <a:rPr lang="tr-TR" dirty="0" err="1"/>
              <a:t>Polygon</a:t>
            </a:r>
            <a:r>
              <a:rPr lang="tr-TR" dirty="0"/>
              <a:t>, mesh yapısındaki temel geometrik şekilleri oluşturur</a:t>
            </a:r>
            <a:r>
              <a:rPr lang="tr-TR" dirty="0" smtClean="0"/>
              <a:t>.</a:t>
            </a:r>
          </a:p>
          <a:p>
            <a:pPr marL="624078" indent="-514350" algn="just">
              <a:buFont typeface="+mj-lt"/>
              <a:buAutoNum type="arabicPeriod" startAt="5"/>
            </a:pPr>
            <a:r>
              <a:rPr lang="tr-TR" b="1" dirty="0"/>
              <a:t>Mesh (Ağ</a:t>
            </a:r>
            <a:r>
              <a:rPr lang="tr-TR" b="1" dirty="0" smtClean="0"/>
              <a:t>): </a:t>
            </a:r>
            <a:r>
              <a:rPr lang="tr-TR" dirty="0" smtClean="0"/>
              <a:t>Mesh</a:t>
            </a:r>
            <a:r>
              <a:rPr lang="tr-TR" dirty="0"/>
              <a:t>, </a:t>
            </a:r>
            <a:r>
              <a:rPr lang="tr-TR" dirty="0" err="1"/>
              <a:t>vertex'ler</a:t>
            </a:r>
            <a:r>
              <a:rPr lang="tr-TR" dirty="0"/>
              <a:t>, kenarlar ve yüzlerden oluşan bir koleksiyondur. Mesh, 3D nesnenin yüzeyini temsil eder. Mesh yapısı, nesnenin geometrisini ve şeklini tanımlar</a:t>
            </a:r>
            <a:r>
              <a:rPr lang="tr-TR" dirty="0" smtClean="0"/>
              <a:t>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36397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r>
              <a:rPr lang="tr-TR" dirty="0" smtClean="0"/>
              <a:t>Temel poligon-mesh temsili kavramları:</a:t>
            </a:r>
          </a:p>
          <a:p>
            <a:pPr marL="624078" indent="-514350" algn="just">
              <a:buFont typeface="+mj-lt"/>
              <a:buAutoNum type="arabicPeriod" startAt="6"/>
            </a:pPr>
            <a:r>
              <a:rPr lang="tr-TR" b="1" dirty="0" err="1"/>
              <a:t>Topology</a:t>
            </a:r>
            <a:r>
              <a:rPr lang="tr-TR" b="1" dirty="0"/>
              <a:t> (Topoloji</a:t>
            </a:r>
            <a:r>
              <a:rPr lang="tr-TR" b="1" dirty="0" smtClean="0"/>
              <a:t>): </a:t>
            </a:r>
            <a:r>
              <a:rPr lang="tr-TR" dirty="0" err="1" smtClean="0"/>
              <a:t>Topology</a:t>
            </a:r>
            <a:r>
              <a:rPr lang="tr-TR" dirty="0"/>
              <a:t>, mesh yapısındaki </a:t>
            </a:r>
            <a:r>
              <a:rPr lang="tr-TR" dirty="0" err="1"/>
              <a:t>vertex'lerin</a:t>
            </a:r>
            <a:r>
              <a:rPr lang="tr-TR" dirty="0"/>
              <a:t>, kenarların ve yüzlerin birbirleriyle nasıl bağlandığını tanımlar. Topoloji, mesh yapısının temel özelliklerinden biridir ve mesh üzerinde yapılan işlemlerin doğru bir şekilde gerçekleştirilmesi için önemlidir</a:t>
            </a:r>
            <a:r>
              <a:rPr lang="tr-TR" dirty="0" smtClean="0"/>
              <a:t>.</a:t>
            </a:r>
          </a:p>
          <a:p>
            <a:pPr marL="624078" indent="-514350" algn="just">
              <a:buFont typeface="+mj-lt"/>
              <a:buAutoNum type="arabicPeriod" startAt="6"/>
            </a:pPr>
            <a:r>
              <a:rPr lang="tr-TR" b="1" dirty="0"/>
              <a:t>Normal (Normal Vektör</a:t>
            </a:r>
            <a:r>
              <a:rPr lang="tr-TR" b="1" dirty="0" smtClean="0"/>
              <a:t>):</a:t>
            </a:r>
            <a:r>
              <a:rPr lang="tr-TR" dirty="0" smtClean="0"/>
              <a:t> Normal</a:t>
            </a:r>
            <a:r>
              <a:rPr lang="tr-TR" dirty="0"/>
              <a:t>, bir yüzün düzlemine dik olan bir vektördür. Normal vektörler, ışıklandırma, gölgeleme ve yüzeyin yönü gibi hesaplamalar için kullanılır.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7384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r>
              <a:rPr lang="tr-TR" dirty="0" smtClean="0"/>
              <a:t>Temel poligon-mesh temsili kavramları:</a:t>
            </a:r>
          </a:p>
          <a:p>
            <a:pPr marL="624078" indent="-514350" algn="just">
              <a:buFont typeface="+mj-lt"/>
              <a:buAutoNum type="arabicPeriod" startAt="8"/>
            </a:pPr>
            <a:r>
              <a:rPr lang="tr-TR" b="1" dirty="0"/>
              <a:t>UV </a:t>
            </a:r>
            <a:r>
              <a:rPr lang="tr-TR" b="1" dirty="0" err="1"/>
              <a:t>Mapping</a:t>
            </a:r>
            <a:r>
              <a:rPr lang="tr-TR" b="1" dirty="0"/>
              <a:t> (UV Haritalama</a:t>
            </a:r>
            <a:r>
              <a:rPr lang="tr-TR" b="1" dirty="0" smtClean="0"/>
              <a:t>):</a:t>
            </a:r>
            <a:r>
              <a:rPr lang="tr-TR" dirty="0" smtClean="0"/>
              <a:t> UV </a:t>
            </a:r>
            <a:r>
              <a:rPr lang="tr-TR" dirty="0" err="1"/>
              <a:t>Mapping</a:t>
            </a:r>
            <a:r>
              <a:rPr lang="tr-TR" dirty="0"/>
              <a:t>, 3D nesnenin yüzeyine 2D bir doku (</a:t>
            </a:r>
            <a:r>
              <a:rPr lang="tr-TR" dirty="0" err="1"/>
              <a:t>texture</a:t>
            </a:r>
            <a:r>
              <a:rPr lang="tr-TR" dirty="0"/>
              <a:t>) uygulamak için kullanılan bir tekniktir. UV koordinatları, 3D nesnenin yüzeyindeki her bir </a:t>
            </a:r>
            <a:r>
              <a:rPr lang="tr-TR" dirty="0" err="1"/>
              <a:t>vertex'e</a:t>
            </a:r>
            <a:r>
              <a:rPr lang="tr-TR" dirty="0"/>
              <a:t> karşılık gelen 2D düzlemdeki noktaları temsil eder.</a:t>
            </a:r>
            <a:endParaRPr lang="tr-TR" dirty="0" smtClean="0"/>
          </a:p>
        </p:txBody>
      </p:sp>
    </p:spTree>
    <p:extLst>
      <p:ext uri="{BB962C8B-B14F-4D97-AF65-F5344CB8AC3E}">
        <p14:creationId xmlns:p14="http://schemas.microsoft.com/office/powerpoint/2010/main" val="1752000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r>
              <a:rPr lang="tr-TR" b="1" dirty="0" smtClean="0"/>
              <a:t>Blender:</a:t>
            </a:r>
            <a:r>
              <a:rPr lang="tr-TR" dirty="0" smtClean="0"/>
              <a:t> </a:t>
            </a:r>
            <a:r>
              <a:rPr lang="tr-TR" dirty="0"/>
              <a:t>Blender, ücretsiz ve açık kaynaklı bir 3D modelleme, animasyon, işleme ve oluşturma yazılımıdır</a:t>
            </a:r>
            <a:r>
              <a:rPr lang="tr-TR" dirty="0" smtClean="0"/>
              <a:t>.</a:t>
            </a:r>
          </a:p>
        </p:txBody>
      </p:sp>
      <p:pic>
        <p:nvPicPr>
          <p:cNvPr id="6146" name="Picture 2" descr="Blender3D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3694536"/>
            <a:ext cx="3844946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https://www.blender.org/wp-content/uploads/2019/07/blender_render-1280x720.jpg?x1210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2401" y="3694536"/>
            <a:ext cx="5119999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3062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r>
              <a:rPr lang="tr-TR" b="1" dirty="0" smtClean="0"/>
              <a:t>Blender:</a:t>
            </a:r>
            <a:r>
              <a:rPr lang="tr-TR" dirty="0" smtClean="0"/>
              <a:t> </a:t>
            </a:r>
            <a:r>
              <a:rPr lang="tr-TR" dirty="0"/>
              <a:t>Blender, ücretsiz ve açık kaynaklı bir 3D modelleme, animasyon, işleme ve oluşturma yazılımıdır</a:t>
            </a:r>
            <a:r>
              <a:rPr lang="tr-TR" dirty="0" smtClean="0"/>
              <a:t>.</a:t>
            </a:r>
          </a:p>
        </p:txBody>
      </p:sp>
      <p:pic>
        <p:nvPicPr>
          <p:cNvPr id="7170" name="Picture 2" descr="https://www.blender.org/wp-content/uploads/2019/07/animation01-1280x720.jpg?x12104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3694536"/>
            <a:ext cx="5119999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https://www.blender.org/wp-content/uploads/2019/07/modeling02-1280x720.jpg?x1210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2401" y="3694536"/>
            <a:ext cx="5119999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0820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r>
              <a:rPr lang="tr-TR" b="1" dirty="0" smtClean="0"/>
              <a:t>Önemli Blender </a:t>
            </a:r>
            <a:r>
              <a:rPr lang="tr-TR" b="1" dirty="0" err="1" smtClean="0"/>
              <a:t>Kısayolları</a:t>
            </a:r>
            <a:r>
              <a:rPr lang="tr-TR" b="1" dirty="0" smtClean="0"/>
              <a:t>:</a:t>
            </a:r>
          </a:p>
          <a:p>
            <a:pPr marL="109728" indent="0" algn="just">
              <a:buNone/>
            </a:pPr>
            <a:r>
              <a:rPr lang="tr-TR" dirty="0"/>
              <a:t>Perspektif/</a:t>
            </a:r>
            <a:r>
              <a:rPr lang="tr-TR" dirty="0" err="1"/>
              <a:t>Ortografik</a:t>
            </a:r>
            <a:r>
              <a:rPr lang="tr-TR" dirty="0"/>
              <a:t> Görünüme Geçiş: 5 </a:t>
            </a:r>
            <a:r>
              <a:rPr lang="tr-TR" dirty="0" smtClean="0"/>
              <a:t>tuşu</a:t>
            </a:r>
            <a:endParaRPr lang="tr-TR" dirty="0"/>
          </a:p>
          <a:p>
            <a:pPr marL="109728" indent="0" algn="just">
              <a:buNone/>
            </a:pPr>
            <a:r>
              <a:rPr lang="tr-TR" dirty="0"/>
              <a:t>Üst Görünüm: 7 </a:t>
            </a:r>
            <a:r>
              <a:rPr lang="tr-TR" dirty="0" smtClean="0"/>
              <a:t>tuşu</a:t>
            </a:r>
            <a:endParaRPr lang="tr-TR" dirty="0"/>
          </a:p>
          <a:p>
            <a:pPr marL="109728" indent="0" algn="just">
              <a:buNone/>
            </a:pPr>
            <a:r>
              <a:rPr lang="tr-TR" dirty="0"/>
              <a:t>Ön Görünüm: 1 </a:t>
            </a:r>
            <a:r>
              <a:rPr lang="tr-TR" dirty="0" smtClean="0"/>
              <a:t>tuşu</a:t>
            </a:r>
            <a:endParaRPr lang="tr-TR" dirty="0"/>
          </a:p>
          <a:p>
            <a:pPr marL="109728" indent="0" algn="just">
              <a:buNone/>
            </a:pPr>
            <a:r>
              <a:rPr lang="tr-TR" dirty="0"/>
              <a:t>Sağ Görünüm: 3 </a:t>
            </a:r>
            <a:r>
              <a:rPr lang="tr-TR" dirty="0" smtClean="0"/>
              <a:t>tuşu</a:t>
            </a:r>
          </a:p>
          <a:p>
            <a:pPr marL="109728" indent="0" algn="just">
              <a:buNone/>
            </a:pPr>
            <a:r>
              <a:rPr lang="pt-BR" dirty="0"/>
              <a:t>Araç Kutusu: T </a:t>
            </a:r>
            <a:r>
              <a:rPr lang="pt-BR" dirty="0" smtClean="0"/>
              <a:t>tuşu</a:t>
            </a:r>
            <a:endParaRPr lang="pt-BR" dirty="0"/>
          </a:p>
          <a:p>
            <a:pPr marL="109728" indent="0" algn="just">
              <a:buNone/>
            </a:pPr>
            <a:r>
              <a:rPr lang="pt-BR" dirty="0"/>
              <a:t>Özellikler Penceresi: N tuşu</a:t>
            </a:r>
            <a:endParaRPr lang="tr-TR" dirty="0" smtClean="0"/>
          </a:p>
        </p:txBody>
      </p:sp>
    </p:spTree>
    <p:extLst>
      <p:ext uri="{BB962C8B-B14F-4D97-AF65-F5344CB8AC3E}">
        <p14:creationId xmlns:p14="http://schemas.microsoft.com/office/powerpoint/2010/main" val="2340619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r>
              <a:rPr lang="tr-TR" b="1" dirty="0" smtClean="0"/>
              <a:t>Önemli Blender </a:t>
            </a:r>
            <a:r>
              <a:rPr lang="tr-TR" b="1" dirty="0" err="1" smtClean="0"/>
              <a:t>Kısayolları</a:t>
            </a:r>
            <a:r>
              <a:rPr lang="tr-TR" b="1" dirty="0" smtClean="0"/>
              <a:t>:</a:t>
            </a:r>
          </a:p>
          <a:p>
            <a:pPr marL="109728" indent="0" algn="just">
              <a:buNone/>
            </a:pPr>
            <a:r>
              <a:rPr lang="tr-TR" dirty="0"/>
              <a:t>Nokta Seçimi: 1 </a:t>
            </a:r>
            <a:r>
              <a:rPr lang="tr-TR" dirty="0" smtClean="0"/>
              <a:t>tuşu</a:t>
            </a:r>
            <a:endParaRPr lang="tr-TR" dirty="0"/>
          </a:p>
          <a:p>
            <a:pPr marL="109728" indent="0" algn="just">
              <a:buNone/>
            </a:pPr>
            <a:r>
              <a:rPr lang="tr-TR" dirty="0"/>
              <a:t>Kenar Seçimi: 2 </a:t>
            </a:r>
            <a:r>
              <a:rPr lang="tr-TR" dirty="0" smtClean="0"/>
              <a:t>tuşu</a:t>
            </a:r>
            <a:endParaRPr lang="tr-TR" dirty="0"/>
          </a:p>
          <a:p>
            <a:pPr marL="109728" indent="0" algn="just">
              <a:buNone/>
            </a:pPr>
            <a:r>
              <a:rPr lang="tr-TR" dirty="0"/>
              <a:t>Yüz Seçimi: 3 </a:t>
            </a:r>
            <a:r>
              <a:rPr lang="tr-TR" dirty="0" smtClean="0"/>
              <a:t>tuşu</a:t>
            </a:r>
          </a:p>
          <a:p>
            <a:pPr marL="109728" indent="0" algn="just">
              <a:buNone/>
            </a:pPr>
            <a:r>
              <a:rPr lang="tr-TR" dirty="0" err="1"/>
              <a:t>Extrude</a:t>
            </a:r>
            <a:r>
              <a:rPr lang="tr-TR" dirty="0"/>
              <a:t> (Çıkıntı): Seçili yüzleri veya kenarları çıkıntı yapar. E </a:t>
            </a:r>
            <a:r>
              <a:rPr lang="tr-TR" dirty="0" smtClean="0"/>
              <a:t>tuşu</a:t>
            </a:r>
            <a:endParaRPr lang="tr-TR" dirty="0"/>
          </a:p>
          <a:p>
            <a:pPr marL="109728" indent="0" algn="just">
              <a:buNone/>
            </a:pPr>
            <a:r>
              <a:rPr lang="tr-TR" dirty="0" err="1"/>
              <a:t>Loop</a:t>
            </a:r>
            <a:r>
              <a:rPr lang="tr-TR" dirty="0"/>
              <a:t> </a:t>
            </a:r>
            <a:r>
              <a:rPr lang="tr-TR" dirty="0" err="1"/>
              <a:t>Cut</a:t>
            </a:r>
            <a:r>
              <a:rPr lang="tr-TR" dirty="0"/>
              <a:t> (Döngü Kesme): Yüzler arasına yeni kenarlar ekler. </a:t>
            </a:r>
            <a:r>
              <a:rPr lang="tr-TR" dirty="0" err="1"/>
              <a:t>Ctrl</a:t>
            </a:r>
            <a:r>
              <a:rPr lang="tr-TR" dirty="0"/>
              <a:t> + R </a:t>
            </a:r>
            <a:r>
              <a:rPr lang="tr-TR" dirty="0" smtClean="0"/>
              <a:t>tuşu</a:t>
            </a:r>
            <a:endParaRPr lang="tr-TR" dirty="0"/>
          </a:p>
          <a:p>
            <a:pPr marL="109728" indent="0" algn="just">
              <a:buNone/>
            </a:pPr>
            <a:r>
              <a:rPr lang="tr-TR" dirty="0" err="1"/>
              <a:t>Bevel</a:t>
            </a:r>
            <a:r>
              <a:rPr lang="tr-TR" dirty="0"/>
              <a:t> (Köşe Yuvarlatma): Kenarları veya </a:t>
            </a:r>
            <a:r>
              <a:rPr lang="tr-TR" dirty="0" err="1"/>
              <a:t>vertex'leri</a:t>
            </a:r>
            <a:r>
              <a:rPr lang="tr-TR" dirty="0"/>
              <a:t> yuvarlatır. </a:t>
            </a:r>
            <a:r>
              <a:rPr lang="tr-TR" dirty="0" err="1"/>
              <a:t>Ctrl</a:t>
            </a:r>
            <a:r>
              <a:rPr lang="tr-TR" dirty="0"/>
              <a:t> + B tuşu</a:t>
            </a:r>
            <a:endParaRPr lang="tr-TR" dirty="0" smtClean="0"/>
          </a:p>
        </p:txBody>
      </p:sp>
    </p:spTree>
    <p:extLst>
      <p:ext uri="{BB962C8B-B14F-4D97-AF65-F5344CB8AC3E}">
        <p14:creationId xmlns:p14="http://schemas.microsoft.com/office/powerpoint/2010/main" val="2675880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tr-TR" dirty="0" smtClean="0"/>
              <a:t>3 BOYUTLU MODEL TEMSİLİ</a:t>
            </a:r>
            <a:endParaRPr lang="tr-TR" dirty="0"/>
          </a:p>
        </p:txBody>
      </p:sp>
      <p:sp>
        <p:nvSpPr>
          <p:cNvPr id="3" name="İçerik Yer Tutucusu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marL="109728" indent="0" algn="just">
              <a:buNone/>
            </a:pPr>
            <a:r>
              <a:rPr lang="tr-TR" b="1" dirty="0" smtClean="0"/>
              <a:t>Önemli Blender </a:t>
            </a:r>
            <a:r>
              <a:rPr lang="tr-TR" b="1" dirty="0" err="1" smtClean="0"/>
              <a:t>Kısayolları</a:t>
            </a:r>
            <a:r>
              <a:rPr lang="tr-TR" b="1" dirty="0" smtClean="0"/>
              <a:t>:</a:t>
            </a:r>
          </a:p>
          <a:p>
            <a:pPr marL="109728" indent="0" algn="just">
              <a:buNone/>
            </a:pPr>
            <a:r>
              <a:rPr lang="tr-TR" dirty="0"/>
              <a:t>Nesneyi Taşı: G tuşu + X, Y, Z (belirli bir eksende taşımak için</a:t>
            </a:r>
            <a:r>
              <a:rPr lang="tr-TR" dirty="0" smtClean="0"/>
              <a:t>)</a:t>
            </a:r>
            <a:endParaRPr lang="tr-TR" dirty="0"/>
          </a:p>
          <a:p>
            <a:pPr marL="109728" indent="0" algn="just">
              <a:buNone/>
            </a:pPr>
            <a:r>
              <a:rPr lang="tr-TR" dirty="0"/>
              <a:t>Nesneyi Döndür: R tuşu + X, Y, Z (belirli bir eksende döndürmek için</a:t>
            </a:r>
            <a:r>
              <a:rPr lang="tr-TR" dirty="0" smtClean="0"/>
              <a:t>)</a:t>
            </a:r>
            <a:endParaRPr lang="tr-TR" dirty="0"/>
          </a:p>
          <a:p>
            <a:pPr marL="109728" indent="0" algn="just">
              <a:buNone/>
            </a:pPr>
            <a:r>
              <a:rPr lang="tr-TR" dirty="0"/>
              <a:t>Nesneyi Ölçekle: S tuşu + X, Y, Z (belirli bir eksende ölçeklemek için</a:t>
            </a:r>
            <a:r>
              <a:rPr lang="tr-TR" dirty="0" smtClean="0"/>
              <a:t>)</a:t>
            </a:r>
          </a:p>
          <a:p>
            <a:pPr marL="109728" indent="0" algn="just">
              <a:buNone/>
            </a:pPr>
            <a:r>
              <a:rPr lang="tr-TR" dirty="0"/>
              <a:t>Nesneyi Kopyala: </a:t>
            </a:r>
            <a:r>
              <a:rPr lang="tr-TR" dirty="0" err="1"/>
              <a:t>Shift</a:t>
            </a:r>
            <a:r>
              <a:rPr lang="tr-TR" dirty="0"/>
              <a:t> + </a:t>
            </a:r>
            <a:r>
              <a:rPr lang="tr-TR" dirty="0" smtClean="0"/>
              <a:t>D</a:t>
            </a:r>
            <a:endParaRPr lang="tr-TR" dirty="0"/>
          </a:p>
          <a:p>
            <a:pPr marL="109728" indent="0" algn="just">
              <a:buNone/>
            </a:pPr>
            <a:r>
              <a:rPr lang="tr-TR" dirty="0"/>
              <a:t>Nesneyi Sil: X veya </a:t>
            </a:r>
            <a:r>
              <a:rPr lang="tr-TR" dirty="0" err="1"/>
              <a:t>Delete</a:t>
            </a:r>
            <a:endParaRPr lang="tr-TR" dirty="0" smtClean="0"/>
          </a:p>
        </p:txBody>
      </p:sp>
    </p:spTree>
    <p:extLst>
      <p:ext uri="{BB962C8B-B14F-4D97-AF65-F5344CB8AC3E}">
        <p14:creationId xmlns:p14="http://schemas.microsoft.com/office/powerpoint/2010/main" val="1144979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Eğitim sunusu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Calibri">
      <a:maj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6225310_TF03460604" id="{F6EFC989-8B6A-426D-8CC8-42909735A4A0}" vid="{6F0D95CE-7106-4C3E-8D98-EE1220DA24E4}"/>
    </a:ext>
  </a:extLst>
</a:theme>
</file>

<file path=ppt/theme/theme2.xml><?xml version="1.0" encoding="utf-8"?>
<a:theme xmlns:a="http://schemas.openxmlformats.org/drawingml/2006/main" name="Ofis Teması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Calibri">
      <a:maj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is Teması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Calibri">
      <a:maj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Eğitim sunusu</Template>
  <TotalTime>1551</TotalTime>
  <Words>1657</Words>
  <Application>Microsoft Office PowerPoint</Application>
  <PresentationFormat>Geniş ekran</PresentationFormat>
  <Paragraphs>138</Paragraphs>
  <Slides>19</Slides>
  <Notes>19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19</vt:i4>
      </vt:variant>
    </vt:vector>
  </HeadingPairs>
  <TitlesOfParts>
    <vt:vector size="24" baseType="lpstr">
      <vt:lpstr>Arial</vt:lpstr>
      <vt:lpstr>Calibri</vt:lpstr>
      <vt:lpstr>Georgia</vt:lpstr>
      <vt:lpstr>Wingdings 2</vt:lpstr>
      <vt:lpstr>Eğitim sunusu</vt:lpstr>
      <vt:lpstr>Grafik ve Animasyon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  <vt:lpstr>3 BOYUTLU MODEL TEMSİLİ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 ve Bilişim Güvenliği</dc:title>
  <dc:creator>ZaferS</dc:creator>
  <cp:lastModifiedBy>Zafer</cp:lastModifiedBy>
  <cp:revision>279</cp:revision>
  <dcterms:created xsi:type="dcterms:W3CDTF">2023-12-09T09:03:26Z</dcterms:created>
  <dcterms:modified xsi:type="dcterms:W3CDTF">2024-10-09T19:42:37Z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