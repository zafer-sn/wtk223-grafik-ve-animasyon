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handoutMasterIdLst>
    <p:handoutMasterId r:id="rId21"/>
  </p:handoutMasterIdLst>
  <p:sldIdLst>
    <p:sldId id="257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9911" autoAdjust="0"/>
  </p:normalViewPr>
  <p:slideViewPr>
    <p:cSldViewPr snapToGrid="0">
      <p:cViewPr varScale="1">
        <p:scale>
          <a:sx n="74" d="100"/>
          <a:sy n="74" d="100"/>
        </p:scale>
        <p:origin x="340" y="56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30.09.2026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731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66099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8888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72311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03902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59339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05802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38910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74426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40490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66379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10480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09079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207398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01678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43976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78750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/>
              <a:t>Asıl metin stillerini düzenle</a:t>
            </a:r>
          </a:p>
          <a:p>
            <a:pPr lvl="1" rtl="0" eaLnBrk="1" latinLnBrk="0" hangingPunct="1"/>
            <a:r>
              <a:rPr lang="tr-TR" noProof="0"/>
              <a:t>İkinci düzey</a:t>
            </a:r>
          </a:p>
          <a:p>
            <a:pPr lvl="2" rtl="0" eaLnBrk="1" latinLnBrk="0" hangingPunct="1"/>
            <a:r>
              <a:rPr lang="tr-TR" noProof="0"/>
              <a:t>Üçüncü düzey</a:t>
            </a:r>
          </a:p>
          <a:p>
            <a:pPr lvl="3" rtl="0" eaLnBrk="1" latinLnBrk="0" hangingPunct="1"/>
            <a:r>
              <a:rPr lang="tr-TR" noProof="0"/>
              <a:t>Dördüncü düzey</a:t>
            </a:r>
          </a:p>
          <a:p>
            <a:pPr lvl="4" rtl="0" eaLnBrk="1" latinLnBrk="0" hangingPunct="1"/>
            <a:r>
              <a:rPr lang="tr-TR" noProof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30.09.2026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/>
              <a:t>Grafik ve Animasyon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Öğr</a:t>
            </a:r>
            <a:r>
              <a:rPr lang="tr-TR" dirty="0"/>
              <a:t>. Gör. Zafer SERİN</a:t>
            </a:r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/>
              <a:t>3 boyutlu modellerin temsil edilmesi için 3 temel yaklaşım kullanılmaktadır. Bunlar: </a:t>
            </a:r>
            <a:r>
              <a:rPr lang="tr-TR" dirty="0" err="1"/>
              <a:t>Voxel</a:t>
            </a:r>
            <a:r>
              <a:rPr lang="tr-TR" dirty="0"/>
              <a:t>[</a:t>
            </a:r>
            <a:r>
              <a:rPr lang="tr-TR" dirty="0" err="1"/>
              <a:t>Volumetric</a:t>
            </a:r>
            <a:r>
              <a:rPr lang="tr-TR" dirty="0"/>
              <a:t> </a:t>
            </a:r>
            <a:r>
              <a:rPr lang="tr-TR" dirty="0" err="1"/>
              <a:t>Pixel</a:t>
            </a:r>
            <a:r>
              <a:rPr lang="tr-TR" dirty="0"/>
              <a:t>(Hacimsel Piksel)], Point-</a:t>
            </a:r>
            <a:r>
              <a:rPr lang="tr-TR" dirty="0" err="1"/>
              <a:t>Cloud</a:t>
            </a:r>
            <a:r>
              <a:rPr lang="tr-TR" dirty="0"/>
              <a:t>(Nokta-Bulut) ve Poligon(Çokgen) Ağlar olarak ifade edilebilir.</a:t>
            </a:r>
          </a:p>
        </p:txBody>
      </p:sp>
    </p:spTree>
    <p:extLst>
      <p:ext uri="{BB962C8B-B14F-4D97-AF65-F5344CB8AC3E}">
        <p14:creationId xmlns:p14="http://schemas.microsoft.com/office/powerpoint/2010/main" val="385982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624078" indent="-514350" algn="just">
              <a:buFont typeface="+mj-lt"/>
              <a:buAutoNum type="arabicPeriod"/>
            </a:pPr>
            <a:r>
              <a:rPr lang="tr-TR" dirty="0" err="1"/>
              <a:t>Voxel</a:t>
            </a:r>
            <a:r>
              <a:rPr lang="tr-TR" dirty="0"/>
              <a:t>(</a:t>
            </a:r>
            <a:r>
              <a:rPr lang="tr-TR" dirty="0" err="1"/>
              <a:t>Volumetric</a:t>
            </a:r>
            <a:r>
              <a:rPr lang="tr-TR" dirty="0"/>
              <a:t> </a:t>
            </a:r>
            <a:r>
              <a:rPr lang="tr-TR" dirty="0" err="1"/>
              <a:t>Pixel</a:t>
            </a:r>
            <a:r>
              <a:rPr lang="tr-TR" dirty="0"/>
              <a:t>): </a:t>
            </a:r>
            <a:r>
              <a:rPr lang="tr-TR" dirty="0" err="1"/>
              <a:t>Voxel</a:t>
            </a:r>
            <a:r>
              <a:rPr lang="tr-TR" dirty="0"/>
              <a:t>, 3D uzayda bir kübik hücreyi temsil eder ve bu hücrelerin bir araya gelmesiyle 3D modeller oluşturulur.</a:t>
            </a:r>
          </a:p>
          <a:p>
            <a:r>
              <a:rPr lang="tr-TR" b="1" dirty="0"/>
              <a:t>Avantajlar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Esneklik: Karmaşık geometrilerin temsil edilmesi için uygundur.</a:t>
            </a:r>
          </a:p>
          <a:p>
            <a:pPr lvl="1"/>
            <a:r>
              <a:rPr lang="tr-TR" dirty="0"/>
              <a:t>İşleme: Hacimsel verilerin işlenmesi ve analizi için uygundur.</a:t>
            </a:r>
          </a:p>
          <a:p>
            <a:r>
              <a:rPr lang="tr-TR" b="1" dirty="0"/>
              <a:t>Dezavantajlar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Veri yoğunluğu: Yüksek çözünürlüklü modeller için büyük miktarda veri gerekebilir.</a:t>
            </a:r>
          </a:p>
          <a:p>
            <a:pPr lvl="1"/>
            <a:r>
              <a:rPr lang="tr-TR" dirty="0"/>
              <a:t>Hesaplama maliyeti: Yüksek çözünürlüklü modeller için yüksek hesaplama gücü gerekebilir.</a:t>
            </a:r>
          </a:p>
        </p:txBody>
      </p:sp>
    </p:spTree>
    <p:extLst>
      <p:ext uri="{BB962C8B-B14F-4D97-AF65-F5344CB8AC3E}">
        <p14:creationId xmlns:p14="http://schemas.microsoft.com/office/powerpoint/2010/main" val="350006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pic>
        <p:nvPicPr>
          <p:cNvPr id="1026" name="Picture 2" descr="Voxel - Wikipedia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315000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a voxel? - Mega Voxel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789" y="2209800"/>
            <a:ext cx="6877611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51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pic>
        <p:nvPicPr>
          <p:cNvPr id="2050" name="Picture 2" descr="The Main Benefits and Disadvantages of Voxel Model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3388888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Voxel Chick düşük poli 3D Model $3 - .3ds .dae .fbx .obj .unknown - Free3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401" y="2209800"/>
            <a:ext cx="5399999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1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624078" indent="-514350" algn="just">
              <a:buFont typeface="+mj-lt"/>
              <a:buAutoNum type="arabicPeriod" startAt="2"/>
            </a:pPr>
            <a:r>
              <a:rPr lang="tr-TR" dirty="0"/>
              <a:t>Point-</a:t>
            </a:r>
            <a:r>
              <a:rPr lang="tr-TR" dirty="0" err="1"/>
              <a:t>Cloud</a:t>
            </a:r>
            <a:r>
              <a:rPr lang="tr-TR" dirty="0"/>
              <a:t>(Nokta-Bulut): Nokta bulutu, 3D uzayda bir dizi noktadan oluşan bir veri kümesidir. Bu noktalar, genellikle bir 3D tarayıcı veya </a:t>
            </a:r>
            <a:r>
              <a:rPr lang="tr-TR" dirty="0" err="1"/>
              <a:t>LiDAR</a:t>
            </a:r>
            <a:r>
              <a:rPr lang="tr-TR" dirty="0"/>
              <a:t> gibi </a:t>
            </a:r>
            <a:r>
              <a:rPr lang="tr-TR" dirty="0" err="1"/>
              <a:t>sensörlerle</a:t>
            </a:r>
            <a:r>
              <a:rPr lang="tr-TR" dirty="0"/>
              <a:t> toplanır.</a:t>
            </a:r>
          </a:p>
          <a:p>
            <a:r>
              <a:rPr lang="tr-TR" b="1" dirty="0"/>
              <a:t>Avantajlar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Veri zenginliği: Gerçek dünya nesnelerinin yüksek doğrulukta temsil edilmesini sağlar.</a:t>
            </a:r>
          </a:p>
          <a:p>
            <a:pPr lvl="1"/>
            <a:r>
              <a:rPr lang="tr-TR" dirty="0"/>
              <a:t>Hızlı toplama: 3D veri toplamak için hızlı ve etkili bir yöntemdir.</a:t>
            </a:r>
          </a:p>
          <a:p>
            <a:r>
              <a:rPr lang="tr-TR" b="1" dirty="0"/>
              <a:t>Dezavantajlar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Veri yoğunluğu: Büyük nokta bulutları için yüksek miktarda veri gerekebilir.</a:t>
            </a:r>
          </a:p>
          <a:p>
            <a:pPr lvl="1"/>
            <a:r>
              <a:rPr lang="tr-TR" dirty="0"/>
              <a:t>İşleme zorluğu: Nokta bulutlarının işlenmesi ve analiz edilmesi zor olabilir.</a:t>
            </a:r>
          </a:p>
        </p:txBody>
      </p:sp>
    </p:spTree>
    <p:extLst>
      <p:ext uri="{BB962C8B-B14F-4D97-AF65-F5344CB8AC3E}">
        <p14:creationId xmlns:p14="http://schemas.microsoft.com/office/powerpoint/2010/main" val="391841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pic>
        <p:nvPicPr>
          <p:cNvPr id="3074" name="Picture 2" descr="Dosya:Point cloud torus.gif - Vikipedi"/>
          <p:cNvPicPr>
            <a:picLocks noGrp="1" noChangeAspect="1" noChangeArrowheads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360000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3D Point Cloud Edito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646" y="2209800"/>
            <a:ext cx="4520754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8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624078" indent="-514350" algn="just">
              <a:buFont typeface="+mj-lt"/>
              <a:buAutoNum type="arabicPeriod" startAt="3"/>
            </a:pPr>
            <a:r>
              <a:rPr lang="tr-TR" dirty="0"/>
              <a:t>Poligon(Çokgen): 3D modeller genellikle üçgen veya dörtgen gibi çokgenlerden oluşan ağlarla temsil edilir. Bu çokgenlerin köşeleri (</a:t>
            </a:r>
            <a:r>
              <a:rPr lang="tr-TR" dirty="0" err="1"/>
              <a:t>vertices</a:t>
            </a:r>
            <a:r>
              <a:rPr lang="tr-TR" dirty="0"/>
              <a:t>), kenarları (</a:t>
            </a:r>
            <a:r>
              <a:rPr lang="tr-TR" dirty="0" err="1"/>
              <a:t>edges</a:t>
            </a:r>
            <a:r>
              <a:rPr lang="tr-TR" dirty="0"/>
              <a:t>) ve yüzleri (</a:t>
            </a:r>
            <a:r>
              <a:rPr lang="tr-TR" dirty="0" err="1"/>
              <a:t>faces</a:t>
            </a:r>
            <a:r>
              <a:rPr lang="tr-TR" dirty="0"/>
              <a:t>) vardır.</a:t>
            </a:r>
          </a:p>
          <a:p>
            <a:r>
              <a:rPr lang="tr-TR" b="1" dirty="0"/>
              <a:t>Avantajlar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Esneklik: Karmaşık şekilleri temsil etmek için uygundur.</a:t>
            </a:r>
          </a:p>
          <a:p>
            <a:pPr lvl="1"/>
            <a:r>
              <a:rPr lang="tr-TR" dirty="0"/>
              <a:t>Verimli: Düşük çözünürlüklü modeller için hafıza ve işlem gücü açısından verimlidir.</a:t>
            </a:r>
          </a:p>
          <a:p>
            <a:r>
              <a:rPr lang="tr-TR" b="1" dirty="0"/>
              <a:t>Dezavantajlar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Yüksek çözünürlüklü modeller için çok sayıda çokgen gerekebilir.</a:t>
            </a:r>
          </a:p>
          <a:p>
            <a:pPr lvl="1"/>
            <a:r>
              <a:rPr lang="tr-TR" dirty="0"/>
              <a:t>Karmaşık geometrilerde veri yönetimi zor olabilir.</a:t>
            </a:r>
          </a:p>
        </p:txBody>
      </p:sp>
    </p:spTree>
    <p:extLst>
      <p:ext uri="{BB962C8B-B14F-4D97-AF65-F5344CB8AC3E}">
        <p14:creationId xmlns:p14="http://schemas.microsoft.com/office/powerpoint/2010/main" val="91191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pic>
        <p:nvPicPr>
          <p:cNvPr id="4098" name="Picture 2" descr="Polygon mesh - Wikipedia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583734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opengl - How to efficiently render mesh surface with the polygon edges  outlined? - Stack Overflo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649" y="2209800"/>
            <a:ext cx="3909751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09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109728" indent="0" algn="just">
              <a:buNone/>
            </a:pPr>
            <a:r>
              <a:rPr lang="tr-TR" dirty="0"/>
              <a:t>Temel poligon-mesh temsili kavramları:</a:t>
            </a:r>
          </a:p>
          <a:p>
            <a:pPr marL="624078" indent="-514350" algn="just">
              <a:buFont typeface="+mj-lt"/>
              <a:buAutoNum type="arabicPeriod"/>
            </a:pPr>
            <a:r>
              <a:rPr lang="tr-TR" b="1" dirty="0" err="1"/>
              <a:t>Vertex</a:t>
            </a:r>
            <a:r>
              <a:rPr lang="tr-TR" b="1" dirty="0"/>
              <a:t>(Köşe): </a:t>
            </a:r>
            <a:r>
              <a:rPr lang="tr-TR" dirty="0" err="1"/>
              <a:t>Vertex</a:t>
            </a:r>
            <a:r>
              <a:rPr lang="tr-TR" dirty="0"/>
              <a:t>, 3D uzayda bir noktayı temsil eder. Her </a:t>
            </a:r>
            <a:r>
              <a:rPr lang="tr-TR" dirty="0" err="1"/>
              <a:t>vertex</a:t>
            </a:r>
            <a:r>
              <a:rPr lang="tr-TR" dirty="0"/>
              <a:t>, genellikle X, Y ve Z koordinatları ile tanımlanır. Mesh yapısındaki tüm geometri, bu </a:t>
            </a:r>
            <a:r>
              <a:rPr lang="tr-TR" dirty="0" err="1"/>
              <a:t>vertex'lerin</a:t>
            </a:r>
            <a:r>
              <a:rPr lang="tr-TR" dirty="0"/>
              <a:t> birleştirilmesiyle oluşur.</a:t>
            </a:r>
          </a:p>
          <a:p>
            <a:pPr marL="624078" indent="-514350">
              <a:buFont typeface="+mj-lt"/>
              <a:buAutoNum type="arabicPeriod"/>
            </a:pPr>
            <a:r>
              <a:rPr lang="tr-TR" b="1" dirty="0" err="1"/>
              <a:t>Edge</a:t>
            </a:r>
            <a:r>
              <a:rPr lang="tr-TR" b="1" dirty="0"/>
              <a:t> (Kenar): </a:t>
            </a:r>
            <a:r>
              <a:rPr lang="tr-TR" dirty="0" err="1"/>
              <a:t>Edge</a:t>
            </a:r>
            <a:r>
              <a:rPr lang="tr-TR" dirty="0"/>
              <a:t>, iki </a:t>
            </a:r>
            <a:r>
              <a:rPr lang="tr-TR" dirty="0" err="1"/>
              <a:t>vertex</a:t>
            </a:r>
            <a:r>
              <a:rPr lang="tr-TR" dirty="0"/>
              <a:t> arasındaki doğru parçasıdır. Kenar, mesh yapısındaki çokgenlerin yapı taşlarını oluşturur.</a:t>
            </a:r>
          </a:p>
          <a:p>
            <a:pPr marL="624078" indent="-514350" algn="just">
              <a:buFont typeface="+mj-lt"/>
              <a:buAutoNum type="arabicPeriod"/>
            </a:pPr>
            <a:r>
              <a:rPr lang="tr-TR" b="1" dirty="0" err="1"/>
              <a:t>Face</a:t>
            </a:r>
            <a:r>
              <a:rPr lang="tr-TR" b="1" dirty="0"/>
              <a:t> (Yüz):</a:t>
            </a:r>
            <a:r>
              <a:rPr lang="tr-TR" dirty="0"/>
              <a:t> </a:t>
            </a:r>
            <a:r>
              <a:rPr lang="tr-TR" dirty="0" err="1"/>
              <a:t>Face</a:t>
            </a:r>
            <a:r>
              <a:rPr lang="tr-TR" dirty="0"/>
              <a:t>, bir veya daha fazla kenar tarafından sınırlanan düzlemsel bir alandır. En yaygın olarak, üçgen (</a:t>
            </a:r>
            <a:r>
              <a:rPr lang="tr-TR" dirty="0" err="1"/>
              <a:t>triangle</a:t>
            </a:r>
            <a:r>
              <a:rPr lang="tr-TR" dirty="0"/>
              <a:t>) veya dörtgen (</a:t>
            </a:r>
            <a:r>
              <a:rPr lang="tr-TR" dirty="0" err="1"/>
              <a:t>quad</a:t>
            </a:r>
            <a:r>
              <a:rPr lang="tr-TR" dirty="0"/>
              <a:t>) şeklinde olan yüzler kullanılır. Bir yüz, mesh yapısındaki temel geometrik birimdir.</a:t>
            </a:r>
          </a:p>
        </p:txBody>
      </p:sp>
    </p:spTree>
    <p:extLst>
      <p:ext uri="{BB962C8B-B14F-4D97-AF65-F5344CB8AC3E}">
        <p14:creationId xmlns:p14="http://schemas.microsoft.com/office/powerpoint/2010/main" val="26837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r>
              <a:rPr lang="tr-TR" dirty="0"/>
              <a:t>Temel poligon-mesh temsili kavramları:</a:t>
            </a:r>
          </a:p>
          <a:p>
            <a:pPr marL="624078" indent="-514350" algn="just">
              <a:buFont typeface="+mj-lt"/>
              <a:buAutoNum type="arabicPeriod" startAt="4"/>
            </a:pPr>
            <a:r>
              <a:rPr lang="tr-TR" b="1" dirty="0" err="1"/>
              <a:t>Polygon</a:t>
            </a:r>
            <a:r>
              <a:rPr lang="tr-TR" b="1" dirty="0"/>
              <a:t> (Çokgen): </a:t>
            </a:r>
            <a:r>
              <a:rPr lang="tr-TR" dirty="0" err="1"/>
              <a:t>Polygon</a:t>
            </a:r>
            <a:r>
              <a:rPr lang="tr-TR" dirty="0"/>
              <a:t>, bir veya daha fazla yüzden oluşan bir yapıdır. Genellikle, üçgenler veya dörtgenler kullanılır. </a:t>
            </a:r>
            <a:r>
              <a:rPr lang="tr-TR" dirty="0" err="1"/>
              <a:t>Polygon</a:t>
            </a:r>
            <a:r>
              <a:rPr lang="tr-TR" dirty="0"/>
              <a:t>, mesh yapısındaki temel geometrik şekilleri oluşturur.</a:t>
            </a:r>
          </a:p>
          <a:p>
            <a:pPr marL="624078" indent="-514350" algn="just">
              <a:buFont typeface="+mj-lt"/>
              <a:buAutoNum type="arabicPeriod" startAt="5"/>
            </a:pPr>
            <a:r>
              <a:rPr lang="tr-TR" b="1" dirty="0"/>
              <a:t>Mesh (Ağ): </a:t>
            </a:r>
            <a:r>
              <a:rPr lang="tr-TR" dirty="0"/>
              <a:t>Mesh, </a:t>
            </a:r>
            <a:r>
              <a:rPr lang="tr-TR" dirty="0" err="1"/>
              <a:t>vertex'ler</a:t>
            </a:r>
            <a:r>
              <a:rPr lang="tr-TR" dirty="0"/>
              <a:t>, kenarlar ve yüzlerden oluşan bir koleksiyondur. Mesh, 3D nesnenin yüzeyini temsil eder. Mesh yapısı, nesnenin geometrisini ve şeklini tanımlar.</a:t>
            </a:r>
          </a:p>
        </p:txBody>
      </p:sp>
    </p:spTree>
    <p:extLst>
      <p:ext uri="{BB962C8B-B14F-4D97-AF65-F5344CB8AC3E}">
        <p14:creationId xmlns:p14="http://schemas.microsoft.com/office/powerpoint/2010/main" val="136397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r>
              <a:rPr lang="tr-TR" dirty="0"/>
              <a:t>Temel poligon-mesh temsili kavramları:</a:t>
            </a:r>
          </a:p>
          <a:p>
            <a:pPr marL="624078" indent="-514350" algn="just">
              <a:buFont typeface="+mj-lt"/>
              <a:buAutoNum type="arabicPeriod" startAt="6"/>
            </a:pPr>
            <a:r>
              <a:rPr lang="tr-TR" b="1" dirty="0" err="1"/>
              <a:t>Topology</a:t>
            </a:r>
            <a:r>
              <a:rPr lang="tr-TR" b="1" dirty="0"/>
              <a:t> (Topoloji): </a:t>
            </a:r>
            <a:r>
              <a:rPr lang="tr-TR" dirty="0" err="1"/>
              <a:t>Topology</a:t>
            </a:r>
            <a:r>
              <a:rPr lang="tr-TR" dirty="0"/>
              <a:t>, mesh yapısındaki </a:t>
            </a:r>
            <a:r>
              <a:rPr lang="tr-TR" dirty="0" err="1"/>
              <a:t>vertex'lerin</a:t>
            </a:r>
            <a:r>
              <a:rPr lang="tr-TR" dirty="0"/>
              <a:t>, kenarların ve yüzlerin birbirleriyle nasıl bağlandığını tanımlar. Topoloji, mesh yapısının temel özelliklerinden biridir ve mesh üzerinde yapılan işlemlerin doğru bir şekilde gerçekleştirilmesi için önemlidir.</a:t>
            </a:r>
          </a:p>
          <a:p>
            <a:pPr marL="624078" indent="-514350" algn="just">
              <a:buFont typeface="+mj-lt"/>
              <a:buAutoNum type="arabicPeriod" startAt="6"/>
            </a:pPr>
            <a:r>
              <a:rPr lang="tr-TR" b="1" dirty="0"/>
              <a:t>Normal (Normal Vektör):</a:t>
            </a:r>
            <a:r>
              <a:rPr lang="tr-TR" dirty="0"/>
              <a:t> Normal, bir yüzün düzlemine dik olan bir vektördür. Normal vektörler, ışıklandırma, gölgeleme ve yüzeyin yönü gibi hesaplamalar için kullanılır.</a:t>
            </a:r>
          </a:p>
        </p:txBody>
      </p:sp>
    </p:spTree>
    <p:extLst>
      <p:ext uri="{BB962C8B-B14F-4D97-AF65-F5344CB8AC3E}">
        <p14:creationId xmlns:p14="http://schemas.microsoft.com/office/powerpoint/2010/main" val="3738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r>
              <a:rPr lang="tr-TR" dirty="0"/>
              <a:t>Temel poligon-mesh temsili kavramları:</a:t>
            </a:r>
          </a:p>
          <a:p>
            <a:pPr marL="624078" indent="-514350" algn="just">
              <a:buFont typeface="+mj-lt"/>
              <a:buAutoNum type="arabicPeriod" startAt="8"/>
            </a:pPr>
            <a:r>
              <a:rPr lang="tr-TR" b="1" dirty="0"/>
              <a:t>UV </a:t>
            </a:r>
            <a:r>
              <a:rPr lang="tr-TR" b="1" dirty="0" err="1"/>
              <a:t>Mapping</a:t>
            </a:r>
            <a:r>
              <a:rPr lang="tr-TR" b="1" dirty="0"/>
              <a:t> (UV Haritalama):</a:t>
            </a:r>
            <a:r>
              <a:rPr lang="tr-TR" dirty="0"/>
              <a:t> UV </a:t>
            </a:r>
            <a:r>
              <a:rPr lang="tr-TR" dirty="0" err="1"/>
              <a:t>Mapping</a:t>
            </a:r>
            <a:r>
              <a:rPr lang="tr-TR" dirty="0"/>
              <a:t>, 3D nesnenin yüzeyine 2D bir doku (</a:t>
            </a:r>
            <a:r>
              <a:rPr lang="tr-TR" dirty="0" err="1"/>
              <a:t>texture</a:t>
            </a:r>
            <a:r>
              <a:rPr lang="tr-TR" dirty="0"/>
              <a:t>) uygulamak için kullanılan bir tekniktir. UV koordinatları, 3D nesnenin yüzeyindeki her bir </a:t>
            </a:r>
            <a:r>
              <a:rPr lang="tr-TR" dirty="0" err="1"/>
              <a:t>vertex'e</a:t>
            </a:r>
            <a:r>
              <a:rPr lang="tr-TR" dirty="0"/>
              <a:t> karşılık gelen 2D düzlemdeki noktaları temsil eder.</a:t>
            </a:r>
          </a:p>
        </p:txBody>
      </p:sp>
    </p:spTree>
    <p:extLst>
      <p:ext uri="{BB962C8B-B14F-4D97-AF65-F5344CB8AC3E}">
        <p14:creationId xmlns:p14="http://schemas.microsoft.com/office/powerpoint/2010/main" val="175200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r>
              <a:rPr lang="tr-TR" b="1" dirty="0"/>
              <a:t>Blender:</a:t>
            </a:r>
            <a:r>
              <a:rPr lang="tr-TR" dirty="0"/>
              <a:t> Blender, ücretsiz ve açık kaynaklı bir 3D modelleme, animasyon, işleme ve oluşturma yazılımıdır.</a:t>
            </a:r>
          </a:p>
        </p:txBody>
      </p:sp>
      <p:pic>
        <p:nvPicPr>
          <p:cNvPr id="6146" name="Picture 2" descr="Blender3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94536"/>
            <a:ext cx="3844946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www.blender.org/wp-content/uploads/2019/07/blender_render-1280x720.jpg?x1210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401" y="3694536"/>
            <a:ext cx="5119999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06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r>
              <a:rPr lang="tr-TR" b="1" dirty="0"/>
              <a:t>Blender:</a:t>
            </a:r>
            <a:r>
              <a:rPr lang="tr-TR" dirty="0"/>
              <a:t> Blender, ücretsiz ve açık kaynaklı bir 3D modelleme, animasyon, işleme ve oluşturma yazılımıdır.</a:t>
            </a:r>
          </a:p>
        </p:txBody>
      </p:sp>
      <p:pic>
        <p:nvPicPr>
          <p:cNvPr id="7170" name="Picture 2" descr="https://www.blender.org/wp-content/uploads/2019/07/animation01-1280x720.jpg?x121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94536"/>
            <a:ext cx="5119999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www.blender.org/wp-content/uploads/2019/07/modeling02-1280x720.jpg?x1210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401" y="3694536"/>
            <a:ext cx="5119999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82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r>
              <a:rPr lang="tr-TR" b="1" dirty="0"/>
              <a:t>Önemli Blender </a:t>
            </a:r>
            <a:r>
              <a:rPr lang="tr-TR" b="1" dirty="0" err="1"/>
              <a:t>Kısayolları</a:t>
            </a:r>
            <a:r>
              <a:rPr lang="tr-TR" b="1" dirty="0"/>
              <a:t>:</a:t>
            </a:r>
          </a:p>
          <a:p>
            <a:pPr marL="109728" indent="0" algn="just">
              <a:buNone/>
            </a:pPr>
            <a:r>
              <a:rPr lang="tr-TR" dirty="0"/>
              <a:t>Perspektif/</a:t>
            </a:r>
            <a:r>
              <a:rPr lang="tr-TR" dirty="0" err="1"/>
              <a:t>Ortografik</a:t>
            </a:r>
            <a:r>
              <a:rPr lang="tr-TR" dirty="0"/>
              <a:t> Görünüme Geçiş: 5 tuşu</a:t>
            </a:r>
          </a:p>
          <a:p>
            <a:pPr marL="109728" indent="0" algn="just">
              <a:buNone/>
            </a:pPr>
            <a:r>
              <a:rPr lang="tr-TR" dirty="0"/>
              <a:t>Üst Görünüm: 7 tuşu</a:t>
            </a:r>
          </a:p>
          <a:p>
            <a:pPr marL="109728" indent="0" algn="just">
              <a:buNone/>
            </a:pPr>
            <a:r>
              <a:rPr lang="tr-TR" dirty="0"/>
              <a:t>Ön Görünüm: 1 tuşu</a:t>
            </a:r>
          </a:p>
          <a:p>
            <a:pPr marL="109728" indent="0" algn="just">
              <a:buNone/>
            </a:pPr>
            <a:r>
              <a:rPr lang="tr-TR" dirty="0"/>
              <a:t>Sağ Görünüm: 3 tuşu</a:t>
            </a:r>
          </a:p>
          <a:p>
            <a:pPr marL="109728" indent="0" algn="just">
              <a:buNone/>
            </a:pPr>
            <a:r>
              <a:rPr lang="pt-BR" dirty="0"/>
              <a:t>Araç Kutusu: T tuşu</a:t>
            </a:r>
          </a:p>
          <a:p>
            <a:pPr marL="109728" indent="0" algn="just">
              <a:buNone/>
            </a:pPr>
            <a:r>
              <a:rPr lang="pt-BR" dirty="0"/>
              <a:t>Özellikler Penceresi: N tuşu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4061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r>
              <a:rPr lang="tr-TR" b="1" dirty="0"/>
              <a:t>Önemli Blender </a:t>
            </a:r>
            <a:r>
              <a:rPr lang="tr-TR" b="1" dirty="0" err="1"/>
              <a:t>Kısayolları</a:t>
            </a:r>
            <a:r>
              <a:rPr lang="tr-TR" b="1" dirty="0"/>
              <a:t>:</a:t>
            </a:r>
          </a:p>
          <a:p>
            <a:pPr marL="109728" indent="0" algn="just">
              <a:buNone/>
            </a:pPr>
            <a:r>
              <a:rPr lang="tr-TR" dirty="0"/>
              <a:t>Nokta Seçimi: 1 tuşu</a:t>
            </a:r>
          </a:p>
          <a:p>
            <a:pPr marL="109728" indent="0" algn="just">
              <a:buNone/>
            </a:pPr>
            <a:r>
              <a:rPr lang="tr-TR" dirty="0"/>
              <a:t>Kenar Seçimi: 2 tuşu</a:t>
            </a:r>
          </a:p>
          <a:p>
            <a:pPr marL="109728" indent="0" algn="just">
              <a:buNone/>
            </a:pPr>
            <a:r>
              <a:rPr lang="tr-TR" dirty="0"/>
              <a:t>Yüz Seçimi: 3 tuşu</a:t>
            </a:r>
          </a:p>
          <a:p>
            <a:pPr marL="109728" indent="0" algn="just">
              <a:buNone/>
            </a:pPr>
            <a:r>
              <a:rPr lang="tr-TR" dirty="0" err="1"/>
              <a:t>Extrude</a:t>
            </a:r>
            <a:r>
              <a:rPr lang="tr-TR" dirty="0"/>
              <a:t> (Çıkıntı): Seçili yüzleri veya kenarları çıkıntı yapar. E tuşu</a:t>
            </a:r>
          </a:p>
          <a:p>
            <a:pPr marL="109728" indent="0" algn="just">
              <a:buNone/>
            </a:pPr>
            <a:r>
              <a:rPr lang="tr-TR" dirty="0" err="1"/>
              <a:t>Loop</a:t>
            </a:r>
            <a:r>
              <a:rPr lang="tr-TR" dirty="0"/>
              <a:t> </a:t>
            </a:r>
            <a:r>
              <a:rPr lang="tr-TR" dirty="0" err="1"/>
              <a:t>Cut</a:t>
            </a:r>
            <a:r>
              <a:rPr lang="tr-TR" dirty="0"/>
              <a:t> (Döngü Kesme): Yüzler arasına yeni kenarlar ekler. </a:t>
            </a:r>
            <a:r>
              <a:rPr lang="tr-TR" dirty="0" err="1"/>
              <a:t>Ctrl</a:t>
            </a:r>
            <a:r>
              <a:rPr lang="tr-TR" dirty="0"/>
              <a:t> + R tuşu</a:t>
            </a:r>
          </a:p>
          <a:p>
            <a:pPr marL="109728" indent="0" algn="just">
              <a:buNone/>
            </a:pPr>
            <a:r>
              <a:rPr lang="tr-TR" dirty="0" err="1"/>
              <a:t>Bevel</a:t>
            </a:r>
            <a:r>
              <a:rPr lang="tr-TR" dirty="0"/>
              <a:t> (Köşe Yuvarlatma): Kenarları veya </a:t>
            </a:r>
            <a:r>
              <a:rPr lang="tr-TR" dirty="0" err="1"/>
              <a:t>vertex'leri</a:t>
            </a:r>
            <a:r>
              <a:rPr lang="tr-TR" dirty="0"/>
              <a:t> yuvarlatır. </a:t>
            </a:r>
            <a:r>
              <a:rPr lang="tr-TR" dirty="0" err="1"/>
              <a:t>Ctrl</a:t>
            </a:r>
            <a:r>
              <a:rPr lang="tr-TR" dirty="0"/>
              <a:t> + B tuşu</a:t>
            </a:r>
          </a:p>
        </p:txBody>
      </p:sp>
    </p:spTree>
    <p:extLst>
      <p:ext uri="{BB962C8B-B14F-4D97-AF65-F5344CB8AC3E}">
        <p14:creationId xmlns:p14="http://schemas.microsoft.com/office/powerpoint/2010/main" val="267588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/>
              <a:t>3 BOYUTLU MODEL TEMSİLİ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09728" indent="0" algn="just">
              <a:buNone/>
            </a:pPr>
            <a:r>
              <a:rPr lang="tr-TR" b="1" dirty="0"/>
              <a:t>Önemli Blender </a:t>
            </a:r>
            <a:r>
              <a:rPr lang="tr-TR" b="1" dirty="0" err="1"/>
              <a:t>Kısayolları</a:t>
            </a:r>
            <a:r>
              <a:rPr lang="tr-TR" b="1" dirty="0"/>
              <a:t>:</a:t>
            </a:r>
          </a:p>
          <a:p>
            <a:pPr marL="109728" indent="0" algn="just">
              <a:buNone/>
            </a:pPr>
            <a:r>
              <a:rPr lang="tr-TR" dirty="0"/>
              <a:t>Nesneyi Taşı: G tuşu + X, Y, Z (belirli bir eksende taşımak için)</a:t>
            </a:r>
          </a:p>
          <a:p>
            <a:pPr marL="109728" indent="0" algn="just">
              <a:buNone/>
            </a:pPr>
            <a:r>
              <a:rPr lang="tr-TR" dirty="0"/>
              <a:t>Nesneyi Döndür: R tuşu + X, Y, Z (belirli bir eksende döndürmek için)</a:t>
            </a:r>
          </a:p>
          <a:p>
            <a:pPr marL="109728" indent="0" algn="just">
              <a:buNone/>
            </a:pPr>
            <a:r>
              <a:rPr lang="tr-TR" dirty="0"/>
              <a:t>Nesneyi Ölçekle: S tuşu + X, Y, Z (belirli bir eksende ölçeklemek için)</a:t>
            </a:r>
          </a:p>
          <a:p>
            <a:pPr marL="109728" indent="0" algn="just">
              <a:buNone/>
            </a:pPr>
            <a:r>
              <a:rPr lang="tr-TR" dirty="0"/>
              <a:t>Nesneyi Kopyala: </a:t>
            </a:r>
            <a:r>
              <a:rPr lang="tr-TR" dirty="0" err="1"/>
              <a:t>Shift</a:t>
            </a:r>
            <a:r>
              <a:rPr lang="tr-TR" dirty="0"/>
              <a:t> + D</a:t>
            </a:r>
          </a:p>
          <a:p>
            <a:pPr marL="109728" indent="0" algn="just">
              <a:buNone/>
            </a:pPr>
            <a:r>
              <a:rPr lang="tr-TR" dirty="0"/>
              <a:t>Nesneyi Sil: X veya </a:t>
            </a:r>
            <a:r>
              <a:rPr lang="tr-TR" dirty="0" err="1"/>
              <a:t>Delete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497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1753</TotalTime>
  <Words>1555</Words>
  <Application>Microsoft Office PowerPoint</Application>
  <PresentationFormat>Geniş ekran</PresentationFormat>
  <Paragraphs>127</Paragraphs>
  <Slides>18</Slides>
  <Notes>18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3" baseType="lpstr">
      <vt:lpstr>Arial</vt:lpstr>
      <vt:lpstr>Calibri</vt:lpstr>
      <vt:lpstr>Georgia</vt:lpstr>
      <vt:lpstr>Wingdings 2</vt:lpstr>
      <vt:lpstr>Eğitim sunusu</vt:lpstr>
      <vt:lpstr>Grafik ve Animasyon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  <vt:lpstr>3 BOYUTLU MODEL TEMSİLİ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ZaferS</cp:lastModifiedBy>
  <cp:revision>280</cp:revision>
  <dcterms:created xsi:type="dcterms:W3CDTF">2023-12-09T09:03:26Z</dcterms:created>
  <dcterms:modified xsi:type="dcterms:W3CDTF">2026-09-30T19:48:23Z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